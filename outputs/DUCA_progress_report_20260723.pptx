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54D1F-8D20-8732-A426-389BE7C35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DFBA44-5825-3A12-734C-8062CCFA6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89BD58-A652-8FE8-9F9C-67BB34E0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29B7E1-3A99-5757-D8DE-5312748E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71804-1E20-F800-B7CE-22EEA754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98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5638D-112B-47C0-B884-83AD2DFF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DAF6C-70B3-52D0-FD9B-DE8BDCC6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75DCF8-FB77-CF08-0E69-3EC67376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EFC7D-94F1-4486-AC25-4F97C831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6651FC-7FF4-B5B9-5C42-C5F22242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906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92DF5-7DA1-057D-27A6-659EF308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864751-3201-B205-2586-D700F458D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7BC873-C608-4F9B-EFE7-EE9852D22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841133-EEBE-7E78-293C-505486E0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206A7-C397-4A7B-0FDE-3C98EA03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65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3AAAB-FA9C-30EC-2331-65CF5374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863297-7F2B-7C84-9127-380525E2B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F1E38-3030-2F86-EABF-6D77FA190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64AA50-E6B9-AB85-8673-B6A9CDC7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BA3B74-A643-6FEA-4A10-7AFF380A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BCAA24-5A94-C576-281F-BC62F028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77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7D997-9CEF-69BE-5889-D13AF1D97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54B967-A7B6-7F11-3379-72CB1F10B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044FBA-A149-15E3-42F8-F50CCC48F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673656-4607-B7F9-79DD-B84DFBEE8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63BA8A-2782-B470-00EE-10FFA394E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A9226C-46C1-5148-95F9-487B5955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713D25-2324-39E0-0D8F-B4F10E7B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09FBD4-848F-5F20-798F-59ABCAC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40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07E44-0E90-4842-F052-531D2B72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AEB206-3C13-1F86-06D2-459FA780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71059F-5BF7-D9C4-DD08-4766DAA5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38CDF0-0E81-0D8A-D7EE-0D782212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70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0652A6-C8BB-9518-201C-012506F87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6DCA05-A698-DA83-3796-1EA98CED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EFF12E-2977-FAA6-68EC-C132F678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36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BE2AF-7304-E316-B366-46A35EC4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A78E52-AD55-941B-33D7-EED9DA710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359A4C-EAD2-3042-E038-443644623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CF5E9C-BEFC-C1F8-5D01-E3C93D96B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1D88BB-BFBA-C4C8-D73A-17C8DA55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7457F6-8082-7602-F93C-73BD5A73A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77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86A1E-5CD2-6C73-1A4B-5F4D7A19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E8456A-AC15-8349-D83D-705C671D8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6F88DE-DE0E-BF41-B95D-D627B8F5A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4D33D-DE11-E1F0-50E1-E33E4FD6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44DC7D-02A8-2A81-3F9E-95361BFD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573286-F82D-D894-4106-3DB44E64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86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94534-C8E6-4638-59DD-46AA2F3C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66578B-92D3-C738-4C15-A9D7F1EC0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BB6A69-EE5C-8E71-1F14-B6CF3581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47B91-5330-E589-0A3D-AAD9DBAB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F01CD-510C-389E-6727-F940CAB3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23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E8608F-853C-61FF-9689-911423250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EA066E-854B-A5C6-A9F8-E4E0437C0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3E3FC-EB72-101A-28F9-9B659B46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0625A-B529-F8CC-1E27-6F832121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7CD6B-6C7D-F87A-31B4-3E55D68B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07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76BF61-2B1E-6D40-0E23-321BE516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B33B86-0F0B-6632-6D99-302E3418E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DFFDE-B695-071B-BCE0-DABB4B566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DA59E-105C-4176-A2CF-6F95D710813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98D5B2-61AF-7EDA-E05D-B11283CAF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2C219-3055-773C-08AD-E3266A86F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2C9EC-21C3-4E04-9748-FA03B7570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98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50C86E-A461-772C-23B8-3AE337F30A8A}"/>
              </a:ext>
            </a:extLst>
          </p:cNvPr>
          <p:cNvSpPr txBox="1"/>
          <p:nvPr/>
        </p:nvSpPr>
        <p:spPr>
          <a:xfrm>
            <a:off x="685800" y="609600"/>
            <a:ext cx="508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69C5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RESEARCH PROGRESS REPORT</a:t>
            </a:r>
            <a:endParaRPr lang="zh-CN" altLang="en-US" sz="1100" b="1">
              <a:solidFill>
                <a:srgbClr val="69C5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377E26-D8EF-7D47-4CBC-8D9F74EC7B3C}"/>
              </a:ext>
            </a:extLst>
          </p:cNvPr>
          <p:cNvSpPr txBox="1"/>
          <p:nvPr/>
        </p:nvSpPr>
        <p:spPr>
          <a:xfrm>
            <a:off x="685800" y="1346200"/>
            <a:ext cx="7620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42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DUCA </a:t>
            </a:r>
            <a:r>
              <a:rPr lang="zh-CN" altLang="en-US" sz="42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模型进度报告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A3A0A5-876C-AC61-1F7A-B265DFBB8D91}"/>
              </a:ext>
            </a:extLst>
          </p:cNvPr>
          <p:cNvSpPr txBox="1"/>
          <p:nvPr/>
        </p:nvSpPr>
        <p:spPr>
          <a:xfrm>
            <a:off x="711200" y="2362200"/>
            <a:ext cx="736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CDDBE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离线 </a:t>
            </a:r>
            <a:r>
              <a:rPr lang="en-US" altLang="zh-CN" sz="2200">
                <a:solidFill>
                  <a:srgbClr val="CDDBE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TAD </a:t>
            </a:r>
            <a:r>
              <a:rPr lang="zh-CN" altLang="en-US" sz="2200">
                <a:solidFill>
                  <a:srgbClr val="CDDBE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的任务感知时序去冗余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FBC660A-605A-3335-E0AA-A1A5D3818C7E}"/>
              </a:ext>
            </a:extLst>
          </p:cNvPr>
          <p:cNvCxnSpPr/>
          <p:nvPr/>
        </p:nvCxnSpPr>
        <p:spPr>
          <a:xfrm>
            <a:off x="711200" y="3073400"/>
            <a:ext cx="1905000" cy="0"/>
          </a:xfrm>
          <a:prstGeom prst="line">
            <a:avLst/>
          </a:prstGeom>
          <a:ln>
            <a:solidFill>
              <a:srgbClr val="69C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BB8E2A2-A0C1-AFCD-DC2B-D9ACB80D1197}"/>
              </a:ext>
            </a:extLst>
          </p:cNvPr>
          <p:cNvSpPr txBox="1"/>
          <p:nvPr/>
        </p:nvSpPr>
        <p:spPr>
          <a:xfrm>
            <a:off x="711200" y="3352800"/>
            <a:ext cx="660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B5C6D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截至 </a:t>
            </a:r>
            <a:r>
              <a:rPr lang="en-US" altLang="zh-CN" sz="1300">
                <a:solidFill>
                  <a:srgbClr val="B5C6D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2026-07-23  |  THUMOS14 · AdaTAD </a:t>
            </a:r>
            <a:r>
              <a:rPr lang="zh-CN" altLang="en-US" sz="1300">
                <a:solidFill>
                  <a:srgbClr val="B5C6D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证据路径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255327-018A-7E8C-4375-198371710527}"/>
              </a:ext>
            </a:extLst>
          </p:cNvPr>
          <p:cNvSpPr/>
          <p:nvPr/>
        </p:nvSpPr>
        <p:spPr>
          <a:xfrm>
            <a:off x="711200" y="4699000"/>
            <a:ext cx="4953000" cy="685800"/>
          </a:xfrm>
          <a:prstGeom prst="rect">
            <a:avLst/>
          </a:prstGeom>
          <a:solidFill>
            <a:srgbClr val="17354F"/>
          </a:solidFill>
          <a:ln>
            <a:solidFill>
              <a:srgbClr val="3663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CBA26B-49A3-52B6-A410-F1DE180C6032}"/>
              </a:ext>
            </a:extLst>
          </p:cNvPr>
          <p:cNvSpPr txBox="1"/>
          <p:nvPr/>
        </p:nvSpPr>
        <p:spPr>
          <a:xfrm>
            <a:off x="939800" y="4851400"/>
            <a:ext cx="4445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当前状态：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experiment_running
</a:t>
            </a:r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尚未经验支持 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尚未 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paper-ready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11AD50-2112-52B7-E669-13A61D7C6998}"/>
              </a:ext>
            </a:extLst>
          </p:cNvPr>
          <p:cNvSpPr txBox="1"/>
          <p:nvPr/>
        </p:nvSpPr>
        <p:spPr>
          <a:xfrm>
            <a:off x="711200" y="5816600"/>
            <a:ext cx="965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AE5E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核心结论：当前可比较的候选均未超过 </a:t>
            </a:r>
            <a:r>
              <a:rPr lang="en-US" altLang="zh-CN" sz="1700">
                <a:solidFill>
                  <a:srgbClr val="DAE5E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matched exact-uniform</a:t>
            </a:r>
            <a:r>
              <a:rPr lang="zh-CN" altLang="en-US" sz="1700">
                <a:solidFill>
                  <a:srgbClr val="DAE5E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700">
                <a:solidFill>
                  <a:srgbClr val="DAE5E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DUCA </a:t>
            </a:r>
            <a:r>
              <a:rPr lang="zh-CN" altLang="en-US" sz="1700">
                <a:solidFill>
                  <a:srgbClr val="DAE5E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主线仍在 </a:t>
            </a:r>
            <a:r>
              <a:rPr lang="en-US" altLang="zh-CN" sz="1700">
                <a:solidFill>
                  <a:srgbClr val="DAE5E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R0–R5 </a:t>
            </a:r>
            <a:r>
              <a:rPr lang="zh-CN" altLang="en-US" sz="1700">
                <a:solidFill>
                  <a:srgbClr val="DAE5E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证据闭环中。</a:t>
            </a:r>
          </a:p>
        </p:txBody>
      </p:sp>
    </p:spTree>
    <p:extLst>
      <p:ext uri="{BB962C8B-B14F-4D97-AF65-F5344CB8AC3E}">
        <p14:creationId xmlns:p14="http://schemas.microsoft.com/office/powerpoint/2010/main" val="112078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3C6E4D-A57D-6EA0-8129-502577B1674E}"/>
              </a:ext>
            </a:extLst>
          </p:cNvPr>
          <p:cNvSpPr txBox="1"/>
          <p:nvPr/>
        </p:nvSpPr>
        <p:spPr>
          <a:xfrm>
            <a:off x="609600" y="355600"/>
            <a:ext cx="698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MODEL OVERVIEW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C57239-B67A-D5F9-EE7A-62FE18D76490}"/>
              </a:ext>
            </a:extLst>
          </p:cNvPr>
          <p:cNvSpPr txBox="1"/>
          <p:nvPr/>
        </p:nvSpPr>
        <p:spPr>
          <a:xfrm>
            <a:off x="609600" y="609600"/>
            <a:ext cx="10160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DUCA</a:t>
            </a:r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：用低成本状态证据分配重计算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A7FFF0-E6A5-4447-A691-EDFB3E62A7DE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B52216E-640E-BC33-23AD-8906CD712C14}"/>
              </a:ext>
            </a:extLst>
          </p:cNvPr>
          <p:cNvCxnSpPr/>
          <p:nvPr/>
        </p:nvCxnSpPr>
        <p:spPr>
          <a:xfrm>
            <a:off x="609600" y="12192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AD635CDF-B526-080D-D7B1-70E2CBB502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49400"/>
            <a:ext cx="10972800" cy="3175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7E6DEE6-9523-8A64-0F84-3488914AEEBB}"/>
              </a:ext>
            </a:extLst>
          </p:cNvPr>
          <p:cNvSpPr txBox="1"/>
          <p:nvPr/>
        </p:nvSpPr>
        <p:spPr>
          <a:xfrm>
            <a:off x="889000" y="5003800"/>
            <a:ext cx="2209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粗粒度动作 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状态证据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8891FE-F9A4-49DA-BDE8-FCC557D07E69}"/>
              </a:ext>
            </a:extLst>
          </p:cNvPr>
          <p:cNvSpPr txBox="1"/>
          <p:nvPr/>
        </p:nvSpPr>
        <p:spPr>
          <a:xfrm>
            <a:off x="3632200" y="5003800"/>
            <a:ext cx="2514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可行域约束下的 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hard selection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D72285-65D2-13EB-382D-C2D51888F579}"/>
              </a:ext>
            </a:extLst>
          </p:cNvPr>
          <p:cNvSpPr txBox="1"/>
          <p:nvPr/>
        </p:nvSpPr>
        <p:spPr>
          <a:xfrm>
            <a:off x="6972300" y="5003800"/>
            <a:ext cx="241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重计算 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VideoMAE + AdaTAD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F836C3-2433-1D88-3DD7-D2AC9F6F4907}"/>
              </a:ext>
            </a:extLst>
          </p:cNvPr>
          <p:cNvSpPr txBox="1"/>
          <p:nvPr/>
        </p:nvSpPr>
        <p:spPr>
          <a:xfrm>
            <a:off x="9779000" y="5003800"/>
            <a:ext cx="160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提案、定位与 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mAP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EADD3D-D668-6049-8943-4607B0BB15CE}"/>
              </a:ext>
            </a:extLst>
          </p:cNvPr>
          <p:cNvSpPr txBox="1"/>
          <p:nvPr/>
        </p:nvSpPr>
        <p:spPr>
          <a:xfrm>
            <a:off x="850900" y="52959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768 </a:t>
            </a:r>
            <a:r>
              <a:rPr lang="zh-CN" altLang="en-US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点候选网格 </a:t>
            </a:r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低分辨率 </a:t>
            </a:r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probe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9F874C-A608-69EA-A12B-604656A43DA6}"/>
              </a:ext>
            </a:extLst>
          </p:cNvPr>
          <p:cNvSpPr txBox="1"/>
          <p:nvPr/>
        </p:nvSpPr>
        <p:spPr>
          <a:xfrm>
            <a:off x="3568700" y="52959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exact-K / max-gap · </a:t>
            </a:r>
            <a:r>
              <a:rPr lang="zh-CN" altLang="en-US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双侧边界微簇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A92349-D20B-8C0D-6C4B-2A10792DDA27}"/>
              </a:ext>
            </a:extLst>
          </p:cNvPr>
          <p:cNvSpPr txBox="1"/>
          <p:nvPr/>
        </p:nvSpPr>
        <p:spPr>
          <a:xfrm>
            <a:off x="6819900" y="5295900"/>
            <a:ext cx="2730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保持官方 </a:t>
            </a:r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detector head / loss / NMS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D7C2E3-1C80-AEC6-0830-32D40E124748}"/>
              </a:ext>
            </a:extLst>
          </p:cNvPr>
          <p:cNvSpPr txBox="1"/>
          <p:nvPr/>
        </p:nvSpPr>
        <p:spPr>
          <a:xfrm>
            <a:off x="9740900" y="5295900"/>
            <a:ext cx="167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原时间轴 </a:t>
            </a:r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inverse mapping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5AB5B1-32BE-B951-CFD1-1A71B281E5EB}"/>
              </a:ext>
            </a:extLst>
          </p:cNvPr>
          <p:cNvSpPr/>
          <p:nvPr/>
        </p:nvSpPr>
        <p:spPr>
          <a:xfrm>
            <a:off x="609600" y="5715000"/>
            <a:ext cx="10972800" cy="5461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007D87-7830-C92A-9150-BEB5E25229CA}"/>
              </a:ext>
            </a:extLst>
          </p:cNvPr>
          <p:cNvSpPr txBox="1"/>
          <p:nvPr/>
        </p:nvSpPr>
        <p:spPr>
          <a:xfrm>
            <a:off x="812800" y="5880100"/>
            <a:ext cx="1046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部署边界：离线全窗口处理；测试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验证 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GT</a:t>
            </a:r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teacher</a:t>
            </a:r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raw-prediction cache </a:t>
            </a:r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不参与推理决策。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5E6B20D-A2FA-4358-4BFB-53E6182FC670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0DF961A-66C7-8471-8E06-4EF9F1247F2B}"/>
              </a:ext>
            </a:extLst>
          </p:cNvPr>
          <p:cNvSpPr txBox="1"/>
          <p:nvPr/>
        </p:nvSpPr>
        <p:spPr>
          <a:xfrm>
            <a:off x="609600" y="6578600"/>
            <a:ext cx="1016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模型合同：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research-wiki/duca_final_model_contract.md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；示意图为本报告生成的说明性视觉。</a:t>
            </a:r>
          </a:p>
        </p:txBody>
      </p:sp>
    </p:spTree>
    <p:extLst>
      <p:ext uri="{BB962C8B-B14F-4D97-AF65-F5344CB8AC3E}">
        <p14:creationId xmlns:p14="http://schemas.microsoft.com/office/powerpoint/2010/main" val="132880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ACA8C5-FF4E-5D2C-917D-81AB60627786}"/>
              </a:ext>
            </a:extLst>
          </p:cNvPr>
          <p:cNvSpPr txBox="1"/>
          <p:nvPr/>
        </p:nvSpPr>
        <p:spPr>
          <a:xfrm>
            <a:off x="609600" y="355600"/>
            <a:ext cx="698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EVIDENCE ROADMAP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1CEFFC-C619-4BF2-D432-0B8FF905A058}"/>
              </a:ext>
            </a:extLst>
          </p:cNvPr>
          <p:cNvSpPr txBox="1"/>
          <p:nvPr/>
        </p:nvSpPr>
        <p:spPr>
          <a:xfrm>
            <a:off x="609600" y="609600"/>
            <a:ext cx="10160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R0–R5</a:t>
            </a:r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：证据先行，主张后置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0A0839-FE4E-E3B8-C064-2709031BE241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618E4D7-32CA-DB56-1A33-DE5B8C3DBC9E}"/>
              </a:ext>
            </a:extLst>
          </p:cNvPr>
          <p:cNvCxnSpPr/>
          <p:nvPr/>
        </p:nvCxnSpPr>
        <p:spPr>
          <a:xfrm>
            <a:off x="609600" y="12192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F3829CCB-7440-5DDC-F8D2-407A1C7EEE06}"/>
              </a:ext>
            </a:extLst>
          </p:cNvPr>
          <p:cNvSpPr/>
          <p:nvPr/>
        </p:nvSpPr>
        <p:spPr>
          <a:xfrm>
            <a:off x="609600" y="1930400"/>
            <a:ext cx="1600200" cy="2032000"/>
          </a:xfrm>
          <a:prstGeom prst="rect">
            <a:avLst/>
          </a:prstGeom>
          <a:solidFill>
            <a:srgbClr val="E6F4FD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1C381F-6536-E0D6-E836-6F32D602651B}"/>
              </a:ext>
            </a:extLst>
          </p:cNvPr>
          <p:cNvSpPr txBox="1"/>
          <p:nvPr/>
        </p:nvSpPr>
        <p:spPr>
          <a:xfrm>
            <a:off x="787400" y="2146300"/>
            <a:ext cx="121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2E97D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R0</a:t>
            </a:r>
            <a:endParaRPr lang="zh-CN" altLang="en-US" b="1">
              <a:solidFill>
                <a:srgbClr val="2E97D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52004F-1406-D3C0-4FFD-6FB4C070FEA4}"/>
              </a:ext>
            </a:extLst>
          </p:cNvPr>
          <p:cNvSpPr txBox="1"/>
          <p:nvPr/>
        </p:nvSpPr>
        <p:spPr>
          <a:xfrm>
            <a:off x="762000" y="2730500"/>
            <a:ext cx="1295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可行域 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Oracle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00CDE4-06E9-85DD-D63A-B558564A0B06}"/>
              </a:ext>
            </a:extLst>
          </p:cNvPr>
          <p:cNvSpPr txBox="1"/>
          <p:nvPr/>
        </p:nvSpPr>
        <p:spPr>
          <a:xfrm>
            <a:off x="762000" y="3505200"/>
            <a:ext cx="1295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2E97D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进行中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ACF288-8BC8-8F10-4349-38E904AE0AB6}"/>
              </a:ext>
            </a:extLst>
          </p:cNvPr>
          <p:cNvSpPr/>
          <p:nvPr/>
        </p:nvSpPr>
        <p:spPr>
          <a:xfrm>
            <a:off x="2451100" y="1930400"/>
            <a:ext cx="1600200" cy="2032000"/>
          </a:xfrm>
          <a:prstGeom prst="rect">
            <a:avLst/>
          </a:prstGeom>
          <a:solidFill>
            <a:srgbClr val="EAF6EF"/>
          </a:solidFill>
          <a:ln>
            <a:solidFill>
              <a:srgbClr val="469B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B91C37-82CC-BA3E-C89A-1DF4E0E6D43A}"/>
              </a:ext>
            </a:extLst>
          </p:cNvPr>
          <p:cNvSpPr txBox="1"/>
          <p:nvPr/>
        </p:nvSpPr>
        <p:spPr>
          <a:xfrm>
            <a:off x="2628900" y="2146300"/>
            <a:ext cx="121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469B7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R1</a:t>
            </a:r>
            <a:endParaRPr lang="zh-CN" altLang="en-US" b="1">
              <a:solidFill>
                <a:srgbClr val="469B7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5FFE62-7263-F3EF-227B-17A7F4C0D0BF}"/>
              </a:ext>
            </a:extLst>
          </p:cNvPr>
          <p:cNvSpPr txBox="1"/>
          <p:nvPr/>
        </p:nvSpPr>
        <p:spPr>
          <a:xfrm>
            <a:off x="2603500" y="2730500"/>
            <a:ext cx="1295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数学与真实门禁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F8A43A-A221-ED50-E98F-B20786184233}"/>
              </a:ext>
            </a:extLst>
          </p:cNvPr>
          <p:cNvSpPr txBox="1"/>
          <p:nvPr/>
        </p:nvSpPr>
        <p:spPr>
          <a:xfrm>
            <a:off x="2603500" y="3505200"/>
            <a:ext cx="1295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469B7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已完成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681497-BA9C-9BB7-F4E9-53AEE5F26FE3}"/>
              </a:ext>
            </a:extLst>
          </p:cNvPr>
          <p:cNvSpPr/>
          <p:nvPr/>
        </p:nvSpPr>
        <p:spPr>
          <a:xfrm>
            <a:off x="4292600" y="1930400"/>
            <a:ext cx="1600200" cy="2032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597E2E-8676-35A3-0F62-1EF4684B5A00}"/>
              </a:ext>
            </a:extLst>
          </p:cNvPr>
          <p:cNvSpPr txBox="1"/>
          <p:nvPr/>
        </p:nvSpPr>
        <p:spPr>
          <a:xfrm>
            <a:off x="4470400" y="2146300"/>
            <a:ext cx="121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R2</a:t>
            </a:r>
            <a:endParaRPr lang="zh-CN" altLang="en-US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A4554A-CFDC-8B7B-E998-25B2A93F88F1}"/>
              </a:ext>
            </a:extLst>
          </p:cNvPr>
          <p:cNvSpPr txBox="1"/>
          <p:nvPr/>
        </p:nvSpPr>
        <p:spPr>
          <a:xfrm>
            <a:off x="4445000" y="2730500"/>
            <a:ext cx="1295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P0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236D3D-ED97-984E-3A58-82B8C90C098E}"/>
              </a:ext>
            </a:extLst>
          </p:cNvPr>
          <p:cNvSpPr txBox="1"/>
          <p:nvPr/>
        </p:nvSpPr>
        <p:spPr>
          <a:xfrm>
            <a:off x="4445000" y="3505200"/>
            <a:ext cx="1295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待 </a:t>
            </a:r>
            <a:r>
              <a:rPr lang="en-US" altLang="zh-CN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R0</a:t>
            </a:r>
            <a:endParaRPr lang="zh-CN" altLang="en-US" sz="1100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65B86C-F29E-686C-DB25-8D68FAC85A18}"/>
              </a:ext>
            </a:extLst>
          </p:cNvPr>
          <p:cNvSpPr/>
          <p:nvPr/>
        </p:nvSpPr>
        <p:spPr>
          <a:xfrm>
            <a:off x="6134100" y="1930400"/>
            <a:ext cx="1600200" cy="2032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FC98025-34FD-DBBD-6D9B-B957763C92E3}"/>
              </a:ext>
            </a:extLst>
          </p:cNvPr>
          <p:cNvSpPr txBox="1"/>
          <p:nvPr/>
        </p:nvSpPr>
        <p:spPr>
          <a:xfrm>
            <a:off x="6311900" y="2146300"/>
            <a:ext cx="121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R3</a:t>
            </a:r>
            <a:endParaRPr lang="zh-CN" altLang="en-US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900890-537C-6719-A160-36615500A193}"/>
              </a:ext>
            </a:extLst>
          </p:cNvPr>
          <p:cNvSpPr txBox="1"/>
          <p:nvPr/>
        </p:nvSpPr>
        <p:spPr>
          <a:xfrm>
            <a:off x="6286500" y="2730500"/>
            <a:ext cx="1295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 vs G0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8E7812-EE73-F2BC-392E-2BC522FDFE5E}"/>
              </a:ext>
            </a:extLst>
          </p:cNvPr>
          <p:cNvSpPr txBox="1"/>
          <p:nvPr/>
        </p:nvSpPr>
        <p:spPr>
          <a:xfrm>
            <a:off x="6286500" y="3505200"/>
            <a:ext cx="1295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待 </a:t>
            </a:r>
            <a:r>
              <a:rPr lang="en-US" altLang="zh-CN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R2</a:t>
            </a:r>
            <a:endParaRPr lang="zh-CN" altLang="en-US" sz="1100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1B4322-2F6E-0A13-7DD9-96F5A889CEDD}"/>
              </a:ext>
            </a:extLst>
          </p:cNvPr>
          <p:cNvSpPr/>
          <p:nvPr/>
        </p:nvSpPr>
        <p:spPr>
          <a:xfrm>
            <a:off x="7975600" y="1930400"/>
            <a:ext cx="1600200" cy="2032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F29701-D00B-29D0-4BE7-C323F4E800EA}"/>
              </a:ext>
            </a:extLst>
          </p:cNvPr>
          <p:cNvSpPr txBox="1"/>
          <p:nvPr/>
        </p:nvSpPr>
        <p:spPr>
          <a:xfrm>
            <a:off x="8153400" y="2146300"/>
            <a:ext cx="121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R4</a:t>
            </a:r>
            <a:endParaRPr lang="zh-CN" altLang="en-US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1827C92-3487-29C9-DFC2-C99130128379}"/>
              </a:ext>
            </a:extLst>
          </p:cNvPr>
          <p:cNvSpPr txBox="1"/>
          <p:nvPr/>
        </p:nvSpPr>
        <p:spPr>
          <a:xfrm>
            <a:off x="8128000" y="2730500"/>
            <a:ext cx="1295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G1 / G2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CCBC240-C530-D311-3C10-1876BC3A720F}"/>
              </a:ext>
            </a:extLst>
          </p:cNvPr>
          <p:cNvSpPr txBox="1"/>
          <p:nvPr/>
        </p:nvSpPr>
        <p:spPr>
          <a:xfrm>
            <a:off x="8128000" y="3505200"/>
            <a:ext cx="1295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待 </a:t>
            </a:r>
            <a:r>
              <a:rPr lang="en-US" altLang="zh-CN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R3</a:t>
            </a:r>
            <a:endParaRPr lang="zh-CN" altLang="en-US" sz="1100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0CB1D5-1A4E-C1EA-5E93-D135D5D95956}"/>
              </a:ext>
            </a:extLst>
          </p:cNvPr>
          <p:cNvSpPr/>
          <p:nvPr/>
        </p:nvSpPr>
        <p:spPr>
          <a:xfrm>
            <a:off x="9817100" y="1930400"/>
            <a:ext cx="1600200" cy="2032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FC9E04-C393-5EE4-CE10-5AD386CCF958}"/>
              </a:ext>
            </a:extLst>
          </p:cNvPr>
          <p:cNvSpPr txBox="1"/>
          <p:nvPr/>
        </p:nvSpPr>
        <p:spPr>
          <a:xfrm>
            <a:off x="9994900" y="2146300"/>
            <a:ext cx="121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R5</a:t>
            </a:r>
            <a:endParaRPr lang="zh-CN" altLang="en-US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3B2C37-76E3-EAAF-399D-691E4C26E2C3}"/>
              </a:ext>
            </a:extLst>
          </p:cNvPr>
          <p:cNvSpPr txBox="1"/>
          <p:nvPr/>
        </p:nvSpPr>
        <p:spPr>
          <a:xfrm>
            <a:off x="9969500" y="2730500"/>
            <a:ext cx="1295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三种子 </a:t>
            </a:r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成本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9737E5D-974A-F5DF-886E-9B80F4B51FFC}"/>
              </a:ext>
            </a:extLst>
          </p:cNvPr>
          <p:cNvSpPr txBox="1"/>
          <p:nvPr/>
        </p:nvSpPr>
        <p:spPr>
          <a:xfrm>
            <a:off x="9969500" y="3505200"/>
            <a:ext cx="1295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待 </a:t>
            </a:r>
            <a:r>
              <a:rPr lang="en-US" altLang="zh-CN" sz="1100" b="1">
                <a:solidFill>
                  <a:srgbClr val="DDE4E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R3/R4</a:t>
            </a:r>
            <a:endParaRPr lang="zh-CN" altLang="en-US" sz="1100" b="1">
              <a:solidFill>
                <a:srgbClr val="DDE4E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E5DB0BB-A584-0928-CA06-8B5676964905}"/>
              </a:ext>
            </a:extLst>
          </p:cNvPr>
          <p:cNvSpPr txBox="1"/>
          <p:nvPr/>
        </p:nvSpPr>
        <p:spPr>
          <a:xfrm>
            <a:off x="609600" y="4508500"/>
            <a:ext cx="304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当前可报告的关键状态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09AF77-D475-E515-9F44-8F353F24D84F}"/>
              </a:ext>
            </a:extLst>
          </p:cNvPr>
          <p:cNvSpPr/>
          <p:nvPr/>
        </p:nvSpPr>
        <p:spPr>
          <a:xfrm>
            <a:off x="609600" y="4953000"/>
            <a:ext cx="10972800" cy="1066800"/>
          </a:xfrm>
          <a:prstGeom prst="rect">
            <a:avLst/>
          </a:prstGeom>
          <a:solidFill>
            <a:srgbClr val="FFF9EF"/>
          </a:solidFill>
          <a:ln>
            <a:solidFill>
              <a:srgbClr val="F9C7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FD4FED2-90F8-7FEF-E451-51B315D2F9DD}"/>
              </a:ext>
            </a:extLst>
          </p:cNvPr>
          <p:cNvSpPr txBox="1"/>
          <p:nvPr/>
        </p:nvSpPr>
        <p:spPr>
          <a:xfrm>
            <a:off x="838200" y="5156200"/>
            <a:ext cx="10363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Fast-only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MobileNet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已有终点评估，但均低于 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matched uniform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
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R0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内部 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Oracle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几何 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headroom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是机制诊断，不能替代官方测试 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mAP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或论文结果。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B565FE4-40F5-8F62-A89C-847CDB125872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DC5EA7D-1281-340C-92C7-741713782EB8}"/>
              </a:ext>
            </a:extLst>
          </p:cNvPr>
          <p:cNvSpPr txBox="1"/>
          <p:nvPr/>
        </p:nvSpPr>
        <p:spPr>
          <a:xfrm>
            <a:off x="609600" y="6578600"/>
            <a:ext cx="1016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来源：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research-wiki/query_pack.md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research-wiki/duca_final_model_contract.md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8506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BE432C-3596-C11B-FA6B-A7A46BBF69B7}"/>
              </a:ext>
            </a:extLst>
          </p:cNvPr>
          <p:cNvSpPr txBox="1"/>
          <p:nvPr/>
        </p:nvSpPr>
        <p:spPr>
          <a:xfrm>
            <a:off x="609600" y="355600"/>
            <a:ext cx="698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TERMINAL PERFORMANCE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5AB333-9F80-BDD1-8C4E-B83B8A0B95C9}"/>
              </a:ext>
            </a:extLst>
          </p:cNvPr>
          <p:cNvSpPr txBox="1"/>
          <p:nvPr/>
        </p:nvSpPr>
        <p:spPr>
          <a:xfrm>
            <a:off x="609600" y="609600"/>
            <a:ext cx="10160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当前可比较的终点性能：候选尚未超过 </a:t>
            </a:r>
            <a:r>
              <a:rPr lang="en-US" altLang="zh-CN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uniform</a:t>
            </a:r>
            <a:endParaRPr lang="zh-CN" altLang="en-US" sz="29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76C708-268F-D281-93B7-B482B313705A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B00855E-09D1-1563-6FEB-0543ED133CAE}"/>
              </a:ext>
            </a:extLst>
          </p:cNvPr>
          <p:cNvCxnSpPr/>
          <p:nvPr/>
        </p:nvCxnSpPr>
        <p:spPr>
          <a:xfrm>
            <a:off x="609600" y="12192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DB6B5DD-2AF3-048E-9B23-BACBF2193398}"/>
              </a:ext>
            </a:extLst>
          </p:cNvPr>
          <p:cNvSpPr txBox="1"/>
          <p:nvPr/>
        </p:nvSpPr>
        <p:spPr>
          <a:xfrm>
            <a:off x="609600" y="1422400"/>
            <a:ext cx="965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THUMOS14 validation · OpenTAD official evaluator · terminal EMA</a:t>
            </a:r>
            <a:r>
              <a:rPr lang="zh-CN" altLang="en-US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（单 </a:t>
            </a:r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seed </a:t>
            </a:r>
            <a:r>
              <a:rPr lang="zh-CN" altLang="en-US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诊断）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FFCA07-C97B-949D-C925-0B7D13C29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848804"/>
              </p:ext>
            </p:extLst>
          </p:nvPr>
        </p:nvGraphicFramePr>
        <p:xfrm>
          <a:off x="609600" y="1917700"/>
          <a:ext cx="109728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4575129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56616081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946000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860718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26737475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98876198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4540501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solidFill>
                            <a:srgbClr val="FFFFFF"/>
                          </a:solidFill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ea typeface="Microsoft YaHei" panose="020B0503020204020204" pitchFamily="34" charset="-122"/>
                        </a:rPr>
                        <a:t>Avg</a:t>
                      </a:r>
                      <a:endParaRPr lang="zh-CN" altLang="en-US" sz="1100" b="1">
                        <a:solidFill>
                          <a:srgbClr val="FFFFFF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ea typeface="Microsoft YaHei" panose="020B0503020204020204" pitchFamily="34" charset="-122"/>
                        </a:rPr>
                        <a:t>@0.3</a:t>
                      </a:r>
                      <a:endParaRPr lang="zh-CN" altLang="en-US" sz="1100" b="1">
                        <a:solidFill>
                          <a:srgbClr val="FFFFFF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ea typeface="Microsoft YaHei" panose="020B0503020204020204" pitchFamily="34" charset="-122"/>
                        </a:rPr>
                        <a:t>@0.4</a:t>
                      </a:r>
                      <a:endParaRPr lang="zh-CN" altLang="en-US" sz="1100" b="1">
                        <a:solidFill>
                          <a:srgbClr val="FFFFFF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ea typeface="Microsoft YaHei" panose="020B0503020204020204" pitchFamily="34" charset="-122"/>
                        </a:rPr>
                        <a:t>@0.5</a:t>
                      </a:r>
                      <a:endParaRPr lang="zh-CN" altLang="en-US" sz="1100" b="1">
                        <a:solidFill>
                          <a:srgbClr val="FFFFFF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ea typeface="Microsoft YaHei" panose="020B0503020204020204" pitchFamily="34" charset="-122"/>
                        </a:rPr>
                        <a:t>@0.6</a:t>
                      </a:r>
                      <a:endParaRPr lang="zh-CN" altLang="en-US" sz="1100" b="1">
                        <a:solidFill>
                          <a:srgbClr val="FFFFFF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ea typeface="Microsoft YaHei" panose="020B0503020204020204" pitchFamily="34" charset="-122"/>
                        </a:rPr>
                        <a:t>@0.7</a:t>
                      </a:r>
                      <a:endParaRPr lang="zh-CN" altLang="en-US" sz="1100" b="1">
                        <a:solidFill>
                          <a:srgbClr val="FFFFFF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93333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matched exact-uniform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64.49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79.59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75.42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67.71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57.27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42.45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18438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Fast-only R2Q3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63.53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79.91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74.52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66.37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54.75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42.09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3146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T1 actual-time residual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64.02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79.15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74.44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67.16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56.94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42.41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78668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MobileNet fixed fusion</a:t>
                      </a:r>
                      <a:endParaRPr lang="zh-CN" altLang="en-US" sz="1100" b="1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64.33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ea typeface="Microsoft YaHei" panose="020B0503020204020204" pitchFamily="34" charset="-122"/>
                        </a:rPr>
                        <a:t>42.73</a:t>
                      </a:r>
                      <a:endParaRPr lang="zh-CN" altLang="en-US" sz="1100" b="0">
                        <a:solidFill>
                          <a:srgbClr val="101E2D"/>
                        </a:solidFill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83432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5D30A75-348E-026F-4E8A-5E3D9D044C68}"/>
              </a:ext>
            </a:extLst>
          </p:cNvPr>
          <p:cNvSpPr/>
          <p:nvPr/>
        </p:nvSpPr>
        <p:spPr>
          <a:xfrm>
            <a:off x="609600" y="5384800"/>
            <a:ext cx="10972800" cy="762000"/>
          </a:xfrm>
          <a:prstGeom prst="rect">
            <a:avLst/>
          </a:prstGeom>
          <a:solidFill>
            <a:srgbClr val="FFF4F4"/>
          </a:solidFill>
          <a:ln>
            <a:solidFill>
              <a:srgbClr val="EFA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B7F939-9931-5857-6889-686DA0EA5B24}"/>
              </a:ext>
            </a:extLst>
          </p:cNvPr>
          <p:cNvSpPr txBox="1"/>
          <p:nvPr/>
        </p:nvSpPr>
        <p:spPr>
          <a:xfrm>
            <a:off x="825500" y="5588000"/>
            <a:ext cx="10515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结论：当前候选均未满足“≥</a:t>
            </a:r>
            <a:r>
              <a:rPr lang="en-US" altLang="zh-CN" sz="15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65.00 Avg-mAP </a:t>
            </a:r>
            <a:r>
              <a:rPr lang="zh-CN" altLang="en-US" sz="15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且相对 </a:t>
            </a:r>
            <a:r>
              <a:rPr lang="en-US" altLang="zh-CN" sz="15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matched U ≥ +0.20 pp”</a:t>
            </a:r>
            <a:r>
              <a:rPr lang="zh-CN" altLang="en-US" sz="15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的主方法 </a:t>
            </a:r>
            <a:r>
              <a:rPr lang="en-US" altLang="zh-CN" sz="15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GO </a:t>
            </a:r>
            <a:r>
              <a:rPr lang="zh-CN" altLang="en-US" sz="15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门槛。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9896FAC-CEC3-D375-E339-68F1240FAAEB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6921CD3-35BC-28D2-30CD-AD46AF052BC9}"/>
              </a:ext>
            </a:extLst>
          </p:cNvPr>
          <p:cNvSpPr txBox="1"/>
          <p:nvPr/>
        </p:nvSpPr>
        <p:spPr>
          <a:xfrm>
            <a:off x="609600" y="6578600"/>
            <a:ext cx="1016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来源：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research-wiki/experiments/duca-t1-and-target-trainfree-official60.md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（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2026-07-23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408923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DC1CF3-2500-97D4-03F6-BCC406CD2C62}"/>
              </a:ext>
            </a:extLst>
          </p:cNvPr>
          <p:cNvSpPr txBox="1"/>
          <p:nvPr/>
        </p:nvSpPr>
        <p:spPr>
          <a:xfrm>
            <a:off x="609600" y="355600"/>
            <a:ext cx="698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PERFORMANCE CHART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F00180-1A3F-C26E-2E47-773C8D3C7AF6}"/>
              </a:ext>
            </a:extLst>
          </p:cNvPr>
          <p:cNvSpPr txBox="1"/>
          <p:nvPr/>
        </p:nvSpPr>
        <p:spPr>
          <a:xfrm>
            <a:off x="609600" y="609600"/>
            <a:ext cx="10160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候选性能：距离 </a:t>
            </a:r>
            <a:r>
              <a:rPr lang="en-US" altLang="zh-CN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65% </a:t>
            </a:r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门槛仍有缺口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095428-6CA8-EAFE-84CF-257F6C2EA647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05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1625F5D-6DFF-CD31-BA66-C5E9A6F11F3A}"/>
              </a:ext>
            </a:extLst>
          </p:cNvPr>
          <p:cNvCxnSpPr/>
          <p:nvPr/>
        </p:nvCxnSpPr>
        <p:spPr>
          <a:xfrm>
            <a:off x="609600" y="12192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BEBD624-B938-536D-8D37-3F15C59CD17C}"/>
              </a:ext>
            </a:extLst>
          </p:cNvPr>
          <p:cNvCxnSpPr/>
          <p:nvPr/>
        </p:nvCxnSpPr>
        <p:spPr>
          <a:xfrm>
            <a:off x="889000" y="5232400"/>
            <a:ext cx="67945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C389E4-CC87-439D-78F1-6CC508329BD7}"/>
              </a:ext>
            </a:extLst>
          </p:cNvPr>
          <p:cNvCxnSpPr/>
          <p:nvPr/>
        </p:nvCxnSpPr>
        <p:spPr>
          <a:xfrm>
            <a:off x="889000" y="2616200"/>
            <a:ext cx="6794500" cy="0"/>
          </a:xfrm>
          <a:prstGeom prst="line">
            <a:avLst/>
          </a:prstGeom>
          <a:ln>
            <a:solidFill>
              <a:srgbClr val="EE8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AB1F5CD-0FB2-C5E5-5FCA-447E8CAD2D60}"/>
              </a:ext>
            </a:extLst>
          </p:cNvPr>
          <p:cNvSpPr txBox="1"/>
          <p:nvPr/>
        </p:nvSpPr>
        <p:spPr>
          <a:xfrm>
            <a:off x="7239000" y="2501900"/>
            <a:ext cx="76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E8C3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65.0 GO</a:t>
            </a:r>
            <a:endParaRPr lang="zh-CN" altLang="en-US" sz="1000" b="1">
              <a:solidFill>
                <a:srgbClr val="EE8C3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8843F5-9F10-8DDA-0D21-EC1BC8A5E52A}"/>
              </a:ext>
            </a:extLst>
          </p:cNvPr>
          <p:cNvSpPr/>
          <p:nvPr/>
        </p:nvSpPr>
        <p:spPr>
          <a:xfrm>
            <a:off x="1333500" y="2639314"/>
            <a:ext cx="711200" cy="2593086"/>
          </a:xfrm>
          <a:prstGeom prst="rect">
            <a:avLst/>
          </a:prstGeom>
          <a:solidFill>
            <a:srgbClr val="2E97D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20545C-C0E2-671C-963C-41E315545BD3}"/>
              </a:ext>
            </a:extLst>
          </p:cNvPr>
          <p:cNvSpPr txBox="1"/>
          <p:nvPr/>
        </p:nvSpPr>
        <p:spPr>
          <a:xfrm>
            <a:off x="1231900" y="2283714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64.49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246FB9-9237-5DE3-9709-963F70E1CB61}"/>
              </a:ext>
            </a:extLst>
          </p:cNvPr>
          <p:cNvSpPr txBox="1"/>
          <p:nvPr/>
        </p:nvSpPr>
        <p:spPr>
          <a:xfrm>
            <a:off x="10287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Uniform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780880-6121-F08A-9EE0-A9F8484578F5}"/>
              </a:ext>
            </a:extLst>
          </p:cNvPr>
          <p:cNvSpPr/>
          <p:nvPr/>
        </p:nvSpPr>
        <p:spPr>
          <a:xfrm>
            <a:off x="2921000" y="3639370"/>
            <a:ext cx="711200" cy="1593030"/>
          </a:xfrm>
          <a:prstGeom prst="rect">
            <a:avLst/>
          </a:prstGeom>
          <a:solidFill>
            <a:srgbClr val="2E97D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9F6DBF-B054-852A-16C2-416DACB6003F}"/>
              </a:ext>
            </a:extLst>
          </p:cNvPr>
          <p:cNvSpPr txBox="1"/>
          <p:nvPr/>
        </p:nvSpPr>
        <p:spPr>
          <a:xfrm>
            <a:off x="2819400" y="3283770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63.53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AF2CC1-D635-5C99-236D-4D5065A5A476}"/>
              </a:ext>
            </a:extLst>
          </p:cNvPr>
          <p:cNvSpPr txBox="1"/>
          <p:nvPr/>
        </p:nvSpPr>
        <p:spPr>
          <a:xfrm>
            <a:off x="26162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Fast-only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F4F439-C9DF-FE8B-12A3-717A3F1F85E4}"/>
              </a:ext>
            </a:extLst>
          </p:cNvPr>
          <p:cNvSpPr/>
          <p:nvPr/>
        </p:nvSpPr>
        <p:spPr>
          <a:xfrm>
            <a:off x="4508500" y="3128772"/>
            <a:ext cx="711200" cy="2103628"/>
          </a:xfrm>
          <a:prstGeom prst="rect">
            <a:avLst/>
          </a:prstGeom>
          <a:solidFill>
            <a:srgbClr val="2E97D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29294B-7200-37B1-1BFE-A239D112D7A0}"/>
              </a:ext>
            </a:extLst>
          </p:cNvPr>
          <p:cNvSpPr txBox="1"/>
          <p:nvPr/>
        </p:nvSpPr>
        <p:spPr>
          <a:xfrm>
            <a:off x="4406900" y="2773172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64.02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5BCA598-391B-8925-BD6C-3DD5325AB020}"/>
              </a:ext>
            </a:extLst>
          </p:cNvPr>
          <p:cNvSpPr txBox="1"/>
          <p:nvPr/>
        </p:nvSpPr>
        <p:spPr>
          <a:xfrm>
            <a:off x="42037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actual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E437C9-67DC-FDC8-9E39-3095D2178AF8}"/>
              </a:ext>
            </a:extLst>
          </p:cNvPr>
          <p:cNvSpPr/>
          <p:nvPr/>
        </p:nvSpPr>
        <p:spPr>
          <a:xfrm>
            <a:off x="6096000" y="2805938"/>
            <a:ext cx="711200" cy="2426462"/>
          </a:xfrm>
          <a:prstGeom prst="rect">
            <a:avLst/>
          </a:prstGeom>
          <a:solidFill>
            <a:srgbClr val="2E97D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2087B7-67EF-05FC-7104-90C5DBA886D9}"/>
              </a:ext>
            </a:extLst>
          </p:cNvPr>
          <p:cNvSpPr txBox="1"/>
          <p:nvPr/>
        </p:nvSpPr>
        <p:spPr>
          <a:xfrm>
            <a:off x="5994400" y="2450338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64.33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40E917-7E70-C8A2-D1EE-CA858294212D}"/>
              </a:ext>
            </a:extLst>
          </p:cNvPr>
          <p:cNvSpPr txBox="1"/>
          <p:nvPr/>
        </p:nvSpPr>
        <p:spPr>
          <a:xfrm>
            <a:off x="57912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MobileNet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072506-C6AD-EE1A-75AE-09DAA8CE402D}"/>
              </a:ext>
            </a:extLst>
          </p:cNvPr>
          <p:cNvSpPr/>
          <p:nvPr/>
        </p:nvSpPr>
        <p:spPr>
          <a:xfrm>
            <a:off x="8509000" y="1752600"/>
            <a:ext cx="3073400" cy="34671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4E55B2-FB4E-B176-3753-9B0F5C270EF0}"/>
              </a:ext>
            </a:extLst>
          </p:cNvPr>
          <p:cNvSpPr txBox="1"/>
          <p:nvPr/>
        </p:nvSpPr>
        <p:spPr>
          <a:xfrm>
            <a:off x="8788400" y="2044700"/>
            <a:ext cx="241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读图结论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B97FF0-4D8C-B1DD-C7FB-516423F8A772}"/>
              </a:ext>
            </a:extLst>
          </p:cNvPr>
          <p:cNvSpPr txBox="1"/>
          <p:nvPr/>
        </p:nvSpPr>
        <p:spPr>
          <a:xfrm>
            <a:off x="8788400" y="2603500"/>
            <a:ext cx="2387600" cy="17235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  matched uniform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是唯一正向参照。
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  Fast-only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在 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@0.6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退化最明显（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-2.52 pp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）。
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 T1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MobileNet </a:t>
            </a:r>
            <a:r>
              <a:rPr lang="zh-CN" altLang="en-US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接近基线，但没有满足主方法提升门槛。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F11AEA-B544-8C52-3E46-A7409729E809}"/>
              </a:ext>
            </a:extLst>
          </p:cNvPr>
          <p:cNvSpPr txBox="1"/>
          <p:nvPr/>
        </p:nvSpPr>
        <p:spPr>
          <a:xfrm>
            <a:off x="609600" y="58166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所有数值均为单 </a:t>
            </a:r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seed </a:t>
            </a:r>
            <a:r>
              <a:rPr lang="zh-CN" altLang="en-US" sz="12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终点；不构成多种子或端到端成本结论。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7F64C76-F638-FEB7-78E0-C67A96D2F61F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014A732-DC6D-2008-65B3-28050D72BC66}"/>
              </a:ext>
            </a:extLst>
          </p:cNvPr>
          <p:cNvSpPr txBox="1"/>
          <p:nvPr/>
        </p:nvSpPr>
        <p:spPr>
          <a:xfrm>
            <a:off x="609600" y="6578600"/>
            <a:ext cx="1016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数值来源同第 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4 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页；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GO 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门槛来源：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research-wiki/duca_final_model_contract.md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70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F947EF-FA73-0FC7-63B6-F30B3283C3EB}"/>
              </a:ext>
            </a:extLst>
          </p:cNvPr>
          <p:cNvSpPr txBox="1"/>
          <p:nvPr/>
        </p:nvSpPr>
        <p:spPr>
          <a:xfrm>
            <a:off x="609600" y="355600"/>
            <a:ext cx="698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TRAINING PERFORMANCE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3F65CB-9684-BE3B-2423-652C77CE6315}"/>
              </a:ext>
            </a:extLst>
          </p:cNvPr>
          <p:cNvSpPr txBox="1"/>
          <p:nvPr/>
        </p:nvSpPr>
        <p:spPr>
          <a:xfrm>
            <a:off x="609600" y="609600"/>
            <a:ext cx="10160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历史 </a:t>
            </a:r>
            <a:r>
              <a:rPr lang="en-US" altLang="zh-CN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V5 </a:t>
            </a:r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训练臂：高 </a:t>
            </a:r>
            <a:r>
              <a:rPr lang="en-US" altLang="zh-CN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tIoU </a:t>
            </a:r>
            <a:r>
              <a:rPr lang="zh-CN" altLang="en-US" sz="29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未得到保护（负证据）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DDF3AD-34B9-3863-0127-369AF8F406E2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06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3397D0-DB09-C2CA-045C-BB393F4E3B19}"/>
              </a:ext>
            </a:extLst>
          </p:cNvPr>
          <p:cNvCxnSpPr/>
          <p:nvPr/>
        </p:nvCxnSpPr>
        <p:spPr>
          <a:xfrm>
            <a:off x="609600" y="12192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33FD50-ADD2-CD84-98E9-F80F469946FA}"/>
              </a:ext>
            </a:extLst>
          </p:cNvPr>
          <p:cNvSpPr txBox="1"/>
          <p:nvPr/>
        </p:nvSpPr>
        <p:spPr>
          <a:xfrm>
            <a:off x="609600" y="1422400"/>
            <a:ext cx="9017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epoch-59 EMA · </a:t>
            </a:r>
            <a:r>
              <a:rPr lang="zh-CN" altLang="en-US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同一历史训练合同 </a:t>
            </a:r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图用于解释为何旧路线被封存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D335C0-7E3A-7C0A-9300-1BD0DB32D30A}"/>
              </a:ext>
            </a:extLst>
          </p:cNvPr>
          <p:cNvSpPr txBox="1"/>
          <p:nvPr/>
        </p:nvSpPr>
        <p:spPr>
          <a:xfrm>
            <a:off x="609600" y="17145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Terminal Avg-mAP (%)</a:t>
            </a:r>
            <a:endParaRPr lang="zh-CN" altLang="en-US" sz="1200" b="1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ABC79E3-5E30-DD5F-BBA8-0296CA8E3F7E}"/>
              </a:ext>
            </a:extLst>
          </p:cNvPr>
          <p:cNvCxnSpPr/>
          <p:nvPr/>
        </p:nvCxnSpPr>
        <p:spPr>
          <a:xfrm>
            <a:off x="889000" y="5232400"/>
            <a:ext cx="67945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898B856E-64BB-B98C-57D8-983619D8AF3E}"/>
              </a:ext>
            </a:extLst>
          </p:cNvPr>
          <p:cNvSpPr/>
          <p:nvPr/>
        </p:nvSpPr>
        <p:spPr>
          <a:xfrm>
            <a:off x="1333500" y="2672639"/>
            <a:ext cx="711200" cy="2559761"/>
          </a:xfrm>
          <a:prstGeom prst="rect">
            <a:avLst/>
          </a:prstGeom>
          <a:solidFill>
            <a:srgbClr val="2E97D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D3DFD7-612C-AE28-27C6-7522BC0D5DE9}"/>
              </a:ext>
            </a:extLst>
          </p:cNvPr>
          <p:cNvSpPr txBox="1"/>
          <p:nvPr/>
        </p:nvSpPr>
        <p:spPr>
          <a:xfrm>
            <a:off x="1231900" y="2317039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64.458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A72B6A-CCDA-98E0-4447-95BE5B3EAB14}"/>
              </a:ext>
            </a:extLst>
          </p:cNvPr>
          <p:cNvSpPr txBox="1"/>
          <p:nvPr/>
        </p:nvSpPr>
        <p:spPr>
          <a:xfrm>
            <a:off x="10287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Uniform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922647-3572-4DDC-304A-0A9A15E3FEE9}"/>
              </a:ext>
            </a:extLst>
          </p:cNvPr>
          <p:cNvSpPr/>
          <p:nvPr/>
        </p:nvSpPr>
        <p:spPr>
          <a:xfrm>
            <a:off x="2921000" y="3451606"/>
            <a:ext cx="711200" cy="1780794"/>
          </a:xfrm>
          <a:prstGeom prst="rect">
            <a:avLst/>
          </a:prstGeom>
          <a:solidFill>
            <a:srgbClr val="EE8C3D"/>
          </a:solidFill>
          <a:ln>
            <a:solidFill>
              <a:srgbClr val="EE8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500838-208B-39B0-3B01-406DFDB1086A}"/>
              </a:ext>
            </a:extLst>
          </p:cNvPr>
          <p:cNvSpPr txBox="1"/>
          <p:nvPr/>
        </p:nvSpPr>
        <p:spPr>
          <a:xfrm>
            <a:off x="2819400" y="3096006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63.710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823CC8-2B01-24FD-EA82-F1B47AE8EA76}"/>
              </a:ext>
            </a:extLst>
          </p:cNvPr>
          <p:cNvSpPr txBox="1"/>
          <p:nvPr/>
        </p:nvSpPr>
        <p:spPr>
          <a:xfrm>
            <a:off x="26162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Direct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94DCCA-0D6D-4FBF-120D-FA977FB5EB71}"/>
              </a:ext>
            </a:extLst>
          </p:cNvPr>
          <p:cNvSpPr/>
          <p:nvPr/>
        </p:nvSpPr>
        <p:spPr>
          <a:xfrm>
            <a:off x="4508500" y="4128516"/>
            <a:ext cx="711200" cy="1103884"/>
          </a:xfrm>
          <a:prstGeom prst="rect">
            <a:avLst/>
          </a:prstGeom>
          <a:solidFill>
            <a:srgbClr val="DA5353"/>
          </a:solidFill>
          <a:ln>
            <a:solidFill>
              <a:srgbClr val="DA53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F1D372-87EC-CA36-DE40-038546E386EC}"/>
              </a:ext>
            </a:extLst>
          </p:cNvPr>
          <p:cNvSpPr txBox="1"/>
          <p:nvPr/>
        </p:nvSpPr>
        <p:spPr>
          <a:xfrm>
            <a:off x="4406900" y="3772916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63.060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8ABE9C-4BB1-673A-93E7-D647E73C51C3}"/>
              </a:ext>
            </a:extLst>
          </p:cNvPr>
          <p:cNvSpPr txBox="1"/>
          <p:nvPr/>
        </p:nvSpPr>
        <p:spPr>
          <a:xfrm>
            <a:off x="42037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Homotopy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D5C8A5-810D-120E-1688-064B91977826}"/>
              </a:ext>
            </a:extLst>
          </p:cNvPr>
          <p:cNvSpPr/>
          <p:nvPr/>
        </p:nvSpPr>
        <p:spPr>
          <a:xfrm>
            <a:off x="6096000" y="3469310"/>
            <a:ext cx="711200" cy="1763090"/>
          </a:xfrm>
          <a:prstGeom prst="rect">
            <a:avLst/>
          </a:prstGeom>
          <a:solidFill>
            <a:srgbClr val="469B78"/>
          </a:solidFill>
          <a:ln>
            <a:solidFill>
              <a:srgbClr val="469B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F949865-0341-B9CA-56F7-8022C0ED5F3B}"/>
              </a:ext>
            </a:extLst>
          </p:cNvPr>
          <p:cNvSpPr txBox="1"/>
          <p:nvPr/>
        </p:nvSpPr>
        <p:spPr>
          <a:xfrm>
            <a:off x="5994400" y="3113710"/>
            <a:ext cx="91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63.693</a:t>
            </a:r>
            <a:endParaRPr lang="zh-CN" altLang="en-US" sz="11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C5B545-6ECC-ED56-2FCA-577A0BA7CA5D}"/>
              </a:ext>
            </a:extLst>
          </p:cNvPr>
          <p:cNvSpPr txBox="1"/>
          <p:nvPr/>
        </p:nvSpPr>
        <p:spPr>
          <a:xfrm>
            <a:off x="5791200" y="53467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Companion</a:t>
            </a:r>
            <a:endParaRPr lang="zh-CN" altLang="en-US" sz="1000">
              <a:solidFill>
                <a:srgbClr val="52647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B905BC-F765-A1B9-50ED-254D2009A0D1}"/>
              </a:ext>
            </a:extLst>
          </p:cNvPr>
          <p:cNvSpPr/>
          <p:nvPr/>
        </p:nvSpPr>
        <p:spPr>
          <a:xfrm>
            <a:off x="8699500" y="1879600"/>
            <a:ext cx="2882900" cy="3238500"/>
          </a:xfrm>
          <a:prstGeom prst="rect">
            <a:avLst/>
          </a:prstGeom>
          <a:solidFill>
            <a:srgbClr val="FFF7EF"/>
          </a:solidFill>
          <a:ln>
            <a:solidFill>
              <a:srgbClr val="F7C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6C199B-6E74-CB81-145C-70B9D8C04CB4}"/>
              </a:ext>
            </a:extLst>
          </p:cNvPr>
          <p:cNvSpPr txBox="1"/>
          <p:nvPr/>
        </p:nvSpPr>
        <p:spPr>
          <a:xfrm>
            <a:off x="8940800" y="2133600"/>
            <a:ext cx="2413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终点 </a:t>
            </a:r>
            <a:r>
              <a:rPr lang="en-US" altLang="zh-CN" sz="1600" b="1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Avg-mAP</a:t>
            </a:r>
            <a:endParaRPr lang="zh-CN" altLang="en-US" sz="1600" b="1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69B1EB-81B1-5522-9834-7DCFD548D7E1}"/>
              </a:ext>
            </a:extLst>
          </p:cNvPr>
          <p:cNvSpPr txBox="1"/>
          <p:nvPr/>
        </p:nvSpPr>
        <p:spPr>
          <a:xfrm>
            <a:off x="8940800" y="2628900"/>
            <a:ext cx="2286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01E2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Uniform 64.458; Direct 63.710; Homotopy 63.060; Companion 63.693</a:t>
            </a:r>
            <a:endParaRPr lang="zh-CN" altLang="en-US" sz="1400">
              <a:solidFill>
                <a:srgbClr val="101E2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F8031A-CB1F-3119-952B-43B3555C6351}"/>
              </a:ext>
            </a:extLst>
          </p:cNvPr>
          <p:cNvSpPr txBox="1"/>
          <p:nvPr/>
        </p:nvSpPr>
        <p:spPr>
          <a:xfrm>
            <a:off x="8940800" y="4152900"/>
            <a:ext cx="2286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旧 </a:t>
            </a:r>
            <a:r>
              <a:rPr lang="en-US" altLang="zh-CN" sz="13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learned arms </a:t>
            </a:r>
            <a:r>
              <a:rPr lang="zh-CN" altLang="en-US" sz="13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全部低于 </a:t>
            </a:r>
            <a:r>
              <a:rPr lang="en-US" altLang="zh-CN" sz="13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uniform</a:t>
            </a:r>
            <a:r>
              <a:rPr lang="zh-CN" altLang="en-US" sz="1300" b="1">
                <a:solidFill>
                  <a:srgbClr val="DA535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；不能靠改名或重跑恢复为主线。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5CB1730-B4E6-84D7-0F09-A5066DE0BE81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C9C5E2B-A480-6048-7F4F-F1A821657881}"/>
              </a:ext>
            </a:extLst>
          </p:cNvPr>
          <p:cNvSpPr txBox="1"/>
          <p:nvPr/>
        </p:nvSpPr>
        <p:spPr>
          <a:xfrm>
            <a:off x="609600" y="6578600"/>
            <a:ext cx="1016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来源：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research-wiki/experiments/duca-global-curriculum-official60.md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（</a:t>
            </a:r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V5 </a:t>
            </a:r>
            <a:r>
              <a:rPr lang="zh-CN" altLang="en-US" sz="800">
                <a:solidFill>
                  <a:srgbClr val="52647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封存负证据）。</a:t>
            </a:r>
          </a:p>
        </p:txBody>
      </p:sp>
    </p:spTree>
    <p:extLst>
      <p:ext uri="{BB962C8B-B14F-4D97-AF65-F5344CB8AC3E}">
        <p14:creationId xmlns:p14="http://schemas.microsoft.com/office/powerpoint/2010/main" val="92741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885C63-8456-14DE-FD60-A9490890CF23}"/>
              </a:ext>
            </a:extLst>
          </p:cNvPr>
          <p:cNvSpPr txBox="1"/>
          <p:nvPr/>
        </p:nvSpPr>
        <p:spPr>
          <a:xfrm>
            <a:off x="609600" y="457200"/>
            <a:ext cx="419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69C5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DECISION AND NEXT GATES</a:t>
            </a:r>
            <a:endParaRPr lang="zh-CN" altLang="en-US" sz="1000" b="1">
              <a:solidFill>
                <a:srgbClr val="69C5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42A07D-694F-FE53-13EE-7189D607CC51}"/>
              </a:ext>
            </a:extLst>
          </p:cNvPr>
          <p:cNvSpPr txBox="1"/>
          <p:nvPr/>
        </p:nvSpPr>
        <p:spPr>
          <a:xfrm>
            <a:off x="609600" y="787400"/>
            <a:ext cx="10160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90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下一步：只推进能改变论文结论的证据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5C55A29-EDF4-AC84-F6C0-FB79AB8CD4DE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>
            <a:solidFill>
              <a:srgbClr val="3F5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FD1B474-F392-047C-ADE5-7357CC9E6670}"/>
              </a:ext>
            </a:extLst>
          </p:cNvPr>
          <p:cNvSpPr/>
          <p:nvPr/>
        </p:nvSpPr>
        <p:spPr>
          <a:xfrm>
            <a:off x="609600" y="2095500"/>
            <a:ext cx="3302000" cy="2603500"/>
          </a:xfrm>
          <a:prstGeom prst="rect">
            <a:avLst/>
          </a:prstGeom>
          <a:solidFill>
            <a:srgbClr val="132E47"/>
          </a:solidFill>
          <a:ln>
            <a:solidFill>
              <a:srgbClr val="376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8ACDFD-9A98-F01D-5358-F6D0F64F6E80}"/>
              </a:ext>
            </a:extLst>
          </p:cNvPr>
          <p:cNvSpPr txBox="1"/>
          <p:nvPr/>
        </p:nvSpPr>
        <p:spPr>
          <a:xfrm>
            <a:off x="838200" y="2336800"/>
            <a:ext cx="457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69C5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1600" b="1">
              <a:solidFill>
                <a:srgbClr val="69C5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F90841-8CC6-9E52-1371-527FE331FF64}"/>
              </a:ext>
            </a:extLst>
          </p:cNvPr>
          <p:cNvSpPr txBox="1"/>
          <p:nvPr/>
        </p:nvSpPr>
        <p:spPr>
          <a:xfrm>
            <a:off x="838200" y="29210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R0</a:t>
            </a:r>
            <a:r>
              <a:rPr lang="zh-CN" altLang="en-US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：冻结一个合法可行族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CD28C0-9F96-D431-36C5-2C6045FAEF0C}"/>
              </a:ext>
            </a:extLst>
          </p:cNvPr>
          <p:cNvSpPr txBox="1"/>
          <p:nvPr/>
        </p:nvSpPr>
        <p:spPr>
          <a:xfrm>
            <a:off x="838200" y="3759200"/>
            <a:ext cx="2794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以 </a:t>
            </a:r>
            <a:r>
              <a:rPr lang="en-US" altLang="zh-CN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paired / official mAP </a:t>
            </a:r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判定 </a:t>
            </a:r>
            <a:r>
              <a:rPr lang="en-US" altLang="zh-CN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projected burst </a:t>
            </a:r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是否优于 </a:t>
            </a:r>
            <a:r>
              <a:rPr lang="en-US" altLang="zh-CN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exact-uniform</a:t>
            </a:r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BCACC2-8D4C-93CF-D156-6928B2C2B8F7}"/>
              </a:ext>
            </a:extLst>
          </p:cNvPr>
          <p:cNvSpPr/>
          <p:nvPr/>
        </p:nvSpPr>
        <p:spPr>
          <a:xfrm>
            <a:off x="4279900" y="2095500"/>
            <a:ext cx="3302000" cy="2603500"/>
          </a:xfrm>
          <a:prstGeom prst="rect">
            <a:avLst/>
          </a:prstGeom>
          <a:solidFill>
            <a:srgbClr val="132E47"/>
          </a:solidFill>
          <a:ln>
            <a:solidFill>
              <a:srgbClr val="376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CF68EF-E29A-6E84-FF57-891A92B9EE12}"/>
              </a:ext>
            </a:extLst>
          </p:cNvPr>
          <p:cNvSpPr txBox="1"/>
          <p:nvPr/>
        </p:nvSpPr>
        <p:spPr>
          <a:xfrm>
            <a:off x="4508500" y="2336800"/>
            <a:ext cx="457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69C5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1600" b="1">
              <a:solidFill>
                <a:srgbClr val="69C5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4748BE-A1A8-F0A1-B48B-F4B6B2860BB3}"/>
              </a:ext>
            </a:extLst>
          </p:cNvPr>
          <p:cNvSpPr txBox="1"/>
          <p:nvPr/>
        </p:nvSpPr>
        <p:spPr>
          <a:xfrm>
            <a:off x="4508500" y="2921000"/>
            <a:ext cx="2794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altLang="zh-CN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R2</a:t>
            </a:r>
            <a:r>
              <a:rPr lang="zh-CN" altLang="pt-BR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：机制是否优于 </a:t>
            </a:r>
            <a:r>
              <a:rPr lang="pt-BR" altLang="zh-CN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simple delta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6E6AA6-C461-3EDE-9EF0-64AEDB0781CB}"/>
              </a:ext>
            </a:extLst>
          </p:cNvPr>
          <p:cNvSpPr txBox="1"/>
          <p:nvPr/>
        </p:nvSpPr>
        <p:spPr>
          <a:xfrm>
            <a:off x="4508500" y="3759200"/>
            <a:ext cx="2794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只保留可通过 </a:t>
            </a:r>
            <a:r>
              <a:rPr lang="en-US" altLang="zh-CN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coarse / selection-quality </a:t>
            </a:r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门禁的候选。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89C78A-68FB-FD22-81E3-F5552BBF4163}"/>
              </a:ext>
            </a:extLst>
          </p:cNvPr>
          <p:cNvSpPr/>
          <p:nvPr/>
        </p:nvSpPr>
        <p:spPr>
          <a:xfrm>
            <a:off x="7950200" y="2095500"/>
            <a:ext cx="3302000" cy="2603500"/>
          </a:xfrm>
          <a:prstGeom prst="rect">
            <a:avLst/>
          </a:prstGeom>
          <a:solidFill>
            <a:srgbClr val="132E47"/>
          </a:solidFill>
          <a:ln>
            <a:solidFill>
              <a:srgbClr val="376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861AA2-865E-C640-075B-3639299807FB}"/>
              </a:ext>
            </a:extLst>
          </p:cNvPr>
          <p:cNvSpPr txBox="1"/>
          <p:nvPr/>
        </p:nvSpPr>
        <p:spPr>
          <a:xfrm>
            <a:off x="8178800" y="2336800"/>
            <a:ext cx="457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69C5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1600" b="1">
              <a:solidFill>
                <a:srgbClr val="69C5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803FF5-09EB-8D03-82F6-F612E5FA480E}"/>
              </a:ext>
            </a:extLst>
          </p:cNvPr>
          <p:cNvSpPr txBox="1"/>
          <p:nvPr/>
        </p:nvSpPr>
        <p:spPr>
          <a:xfrm>
            <a:off x="8178800" y="29210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altLang="zh-CN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R3: U vs G0 terminal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173A6D-5F58-6A82-2432-C60CDD8E0076}"/>
              </a:ext>
            </a:extLst>
          </p:cNvPr>
          <p:cNvSpPr txBox="1"/>
          <p:nvPr/>
        </p:nvSpPr>
        <p:spPr>
          <a:xfrm>
            <a:off x="8178800" y="3759200"/>
            <a:ext cx="2794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要求 ≥</a:t>
            </a:r>
            <a:r>
              <a:rPr lang="en-US" altLang="zh-CN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65.00</a:t>
            </a:r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、相对 </a:t>
            </a:r>
            <a:r>
              <a:rPr lang="en-US" altLang="zh-CN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 ≥+0.20</a:t>
            </a:r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，并守住 </a:t>
            </a:r>
            <a:r>
              <a:rPr lang="en-US" altLang="zh-CN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@0.6 / @0.7</a:t>
            </a:r>
            <a:r>
              <a:rPr lang="zh-CN" altLang="en-US" sz="1300">
                <a:solidFill>
                  <a:srgbClr val="CDDDE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233908-BD00-3C24-9B5A-25F4A1E910BD}"/>
              </a:ext>
            </a:extLst>
          </p:cNvPr>
          <p:cNvSpPr txBox="1"/>
          <p:nvPr/>
        </p:nvSpPr>
        <p:spPr>
          <a:xfrm>
            <a:off x="609600" y="5397500"/>
            <a:ext cx="1016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DBE8F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成功定义：真实总成本下降，同时保护高 </a:t>
            </a:r>
            <a:r>
              <a:rPr lang="en-US" altLang="zh-CN" b="1">
                <a:solidFill>
                  <a:srgbClr val="DBE8F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IoU </a:t>
            </a:r>
            <a:r>
              <a:rPr lang="zh-CN" altLang="en-US" b="1">
                <a:solidFill>
                  <a:srgbClr val="DBE8F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定位；在证据闭环前，不把 </a:t>
            </a:r>
            <a:r>
              <a:rPr lang="en-US" altLang="zh-CN" b="1">
                <a:solidFill>
                  <a:srgbClr val="DBE8F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DUCA </a:t>
            </a:r>
            <a:r>
              <a:rPr lang="zh-CN" altLang="en-US" b="1">
                <a:solidFill>
                  <a:srgbClr val="DBE8F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称为最终方法。</a:t>
            </a:r>
          </a:p>
        </p:txBody>
      </p:sp>
    </p:spTree>
    <p:extLst>
      <p:ext uri="{BB962C8B-B14F-4D97-AF65-F5344CB8AC3E}">
        <p14:creationId xmlns:p14="http://schemas.microsoft.com/office/powerpoint/2010/main" val="252929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自定义</PresentationFormat>
  <Paragraphs>129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H288696@365mmt.com</dc:creator>
  <cp:lastModifiedBy>H288696@365mmt.com</cp:lastModifiedBy>
  <cp:revision>1</cp:revision>
  <dcterms:created xsi:type="dcterms:W3CDTF">2026-07-23T06:53:30Z</dcterms:created>
  <dcterms:modified xsi:type="dcterms:W3CDTF">2026-07-23T06:53:30Z</dcterms:modified>
</cp:coreProperties>
</file>