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3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BC26D8-795E-C09F-C1A2-D1BEA810B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1DAFBC-0519-9E7E-B859-0FA97DD49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538E2-523E-1749-4273-3798BF14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7DFB5-912F-75BD-EB63-788F70EB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007883-C352-8A40-ACFA-A42734C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691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847BE-8E6C-CF52-B943-1AA4496F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CFDD17-7567-F234-DA0C-EEC588E94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C43E0C-0547-A45E-D21A-1B7C2267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D1AE7E-A632-5AFB-DEDF-771DEB41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32F65D-871D-479F-E79A-E90E0E0FF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49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D849C-DBD0-7167-1344-B3C2509A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165D8-3242-DE4E-4CC4-234EA2803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90652-D92A-108B-504F-01425E84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D0A588-E86E-7D91-F002-D99D34D1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CBD35-6BCD-9318-B001-C1002997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93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3CF23-B900-B4D8-99BD-879CB626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AE0F2A-D090-09A6-C2F5-15F3E8F3D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57CC7F-2020-AC0D-2D91-0639D15C2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468EAB-4992-C896-9CF7-9119338D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69E6DD-BD5A-3CB1-44A2-BF48C04F6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941B4F-3A5A-C1E4-0FD0-37A04EA3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76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CEB26-47F0-76B3-2A30-36D359DF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12581-BDE2-A67E-FB10-588F5A644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969353-C280-ACAA-586B-BE1B522F0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D4CE78-67CD-B416-D0C8-51F5D199B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163B3C-C0A2-5EEA-C268-FCD55ED16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98A715-4352-492E-721D-18CC4F8D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F293E0-6D32-3097-A6FE-9CFF3A15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72E565-5E3A-F479-F8ED-43FB5E0F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987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0DCE9-A65F-04C9-47BE-6D22F794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476CF9-97FA-DB16-CCBE-7486057B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A47C28-4DDA-B973-6882-B337A2DD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610A87-F274-7467-6146-57990BA6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8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5D9430-BDF3-F823-0054-1700D4F6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CF0C48-B288-9ED4-6698-B8844144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A2B676-ECCD-ECD6-7D63-EC5707EC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08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FB44A-DFC5-22E7-A763-DF1456594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E8670D-AFB1-530B-E978-E13AFFC8E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A62A69-FAFE-0EF0-48D0-C2ED4CAF7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C6EF6A-26B8-0F65-EF95-D92BF759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5A180D-40B7-B8EA-D481-6CAABB3AC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9ABB04-17D0-8194-AD3B-D020140E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903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FC811-26CA-9264-80C9-32D607C34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0F1A5E-C36E-C634-BDB7-1C2A722BC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F42691-B90A-EAF5-4BEE-60A4C4264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06DFD4-DE16-801C-82EC-02E4013E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1FBA4E-F126-FAD4-9834-554E1FD1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35DFD-F3DE-5227-D7A6-2E229B43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1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8ED7C-D585-6CF5-128C-2CFE4240A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263EC0-7F4F-7E84-9F6F-5A6E3A7BF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4C6B0A-CC08-6F59-F149-79F6D008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4DE9C0-85B9-B6AF-BFC4-E2ADDC8F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EA4BA-0300-EA9D-5246-0D3F15F5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362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86C05D-B947-F044-A798-470A11F1C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D55CDB-EBAF-DA84-EB01-C2F2BA091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CABDE0-18A3-C08D-FD0A-76ACC591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9BB4D-5174-3FE0-4167-ED629887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49E9F1-958B-28F3-27F5-E5041360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617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7A085C-2DF3-DA8D-ABFA-0C89B13D1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EF4E0A-9AED-7493-2FD7-CCFA8847D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8AE83B-776B-E517-B069-25C0A3B11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1A7ED-AC03-4B51-94B3-30A673726390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D6618A-7D72-621C-41D4-44B0BB678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DF7CB-DCDA-4C00-0F04-273924030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AC5EC-C090-4481-AD22-D1D177BB37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476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14E460-393D-FAD5-34C9-846A2F1122DB}"/>
              </a:ext>
            </a:extLst>
          </p:cNvPr>
          <p:cNvSpPr txBox="1"/>
          <p:nvPr/>
        </p:nvSpPr>
        <p:spPr>
          <a:xfrm>
            <a:off x="685800" y="660400"/>
            <a:ext cx="6350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69C5F0"/>
                </a:solidFill>
                <a:latin typeface="Arial" panose="020B0604020202020204" pitchFamily="34" charset="0"/>
              </a:rPr>
              <a:t>DUCA PAPER RETROSPECTIVE</a:t>
            </a:r>
            <a:endParaRPr lang="zh-CN" altLang="en-US" sz="1100" b="1">
              <a:solidFill>
                <a:srgbClr val="69C5F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CAD02B-DAB6-B84E-6431-0C2CE4E6FEAF}"/>
              </a:ext>
            </a:extLst>
          </p:cNvPr>
          <p:cNvSpPr txBox="1"/>
          <p:nvPr/>
        </p:nvSpPr>
        <p:spPr>
          <a:xfrm>
            <a:off x="685800" y="1422400"/>
            <a:ext cx="8890000" cy="123110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4000" b="1">
                <a:solidFill>
                  <a:srgbClr val="FFFFFF"/>
                </a:solidFill>
                <a:latin typeface="Arial" panose="020B0604020202020204" pitchFamily="34" charset="0"/>
              </a:rPr>
              <a:t>DUCA: a post-paper research retrospective</a:t>
            </a:r>
            <a:endParaRPr lang="zh-CN" altLang="en-US" sz="4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8EDE7D-08C3-D5E1-33D2-6929B326C2A7}"/>
              </a:ext>
            </a:extLst>
          </p:cNvPr>
          <p:cNvSpPr txBox="1"/>
          <p:nvPr/>
        </p:nvSpPr>
        <p:spPr>
          <a:xfrm>
            <a:off x="711200" y="24130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>
                <a:solidFill>
                  <a:srgbClr val="CDDBE9"/>
                </a:solidFill>
                <a:latin typeface="Arial" panose="020B0604020202020204" pitchFamily="34" charset="0"/>
              </a:rPr>
              <a:t>Offline temporal action detection | task-aware temporal de-redundancy</a:t>
            </a:r>
            <a:endParaRPr lang="zh-CN" altLang="en-US" sz="2000">
              <a:solidFill>
                <a:srgbClr val="CDDBE9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BC980E1-1B17-6EF1-A21B-A29370D9F4BB}"/>
              </a:ext>
            </a:extLst>
          </p:cNvPr>
          <p:cNvCxnSpPr/>
          <p:nvPr/>
        </p:nvCxnSpPr>
        <p:spPr>
          <a:xfrm>
            <a:off x="711200" y="3098800"/>
            <a:ext cx="1905000" cy="0"/>
          </a:xfrm>
          <a:prstGeom prst="line">
            <a:avLst/>
          </a:prstGeom>
          <a:ln>
            <a:solidFill>
              <a:srgbClr val="69C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2F10ED1-66A3-AA17-3B76-DF55DE92F2E6}"/>
              </a:ext>
            </a:extLst>
          </p:cNvPr>
          <p:cNvSpPr txBox="1"/>
          <p:nvPr/>
        </p:nvSpPr>
        <p:spPr>
          <a:xfrm>
            <a:off x="711200" y="3454400"/>
            <a:ext cx="9652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B5C6D7"/>
                </a:solidFill>
                <a:latin typeface="Arial" panose="020B0604020202020204" pitchFamily="34" charset="0"/>
              </a:rPr>
              <a:t>Scope: motivation, method, version evolution, evidence, negative results, and current scientific verdict</a:t>
            </a:r>
            <a:endParaRPr lang="zh-CN" altLang="en-US" sz="1600">
              <a:solidFill>
                <a:srgbClr val="B5C6D7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C9E34F-F862-3F7D-1095-66BF6BD0FD6C}"/>
              </a:ext>
            </a:extLst>
          </p:cNvPr>
          <p:cNvSpPr/>
          <p:nvPr/>
        </p:nvSpPr>
        <p:spPr>
          <a:xfrm>
            <a:off x="711200" y="5029200"/>
            <a:ext cx="4953000" cy="685800"/>
          </a:xfrm>
          <a:prstGeom prst="rect">
            <a:avLst/>
          </a:prstGeom>
          <a:solidFill>
            <a:srgbClr val="17354F"/>
          </a:solidFill>
          <a:ln>
            <a:solidFill>
              <a:srgbClr val="3663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045BFA-3AC7-3FCD-A830-69E85AC1404E}"/>
              </a:ext>
            </a:extLst>
          </p:cNvPr>
          <p:cNvSpPr txBox="1"/>
          <p:nvPr/>
        </p:nvSpPr>
        <p:spPr>
          <a:xfrm>
            <a:off x="939800" y="5257800"/>
            <a:ext cx="444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</a:rPr>
              <a:t>Status: experiment_running | NOT empirically supported | NOT paper-ready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79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E04BD65-55E5-7A5A-A7B5-83B239F14EE9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THESIS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B20AD0-FE90-ECB6-BD58-FC030FAD1D9D}"/>
              </a:ext>
            </a:extLst>
          </p:cNvPr>
          <p:cNvSpPr txBox="1"/>
          <p:nvPr/>
        </p:nvSpPr>
        <p:spPr>
          <a:xfrm>
            <a:off x="609600" y="609600"/>
            <a:ext cx="10541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The paper question: where should expensive temporal computation go?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7EB66EE-496F-E652-6463-59748DF14C73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A042ECB-5F64-03F1-4A0E-EC6AF8359FBC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02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12A29E-D80F-7CAD-7A39-BAE9977FDB88}"/>
              </a:ext>
            </a:extLst>
          </p:cNvPr>
          <p:cNvSpPr/>
          <p:nvPr/>
        </p:nvSpPr>
        <p:spPr>
          <a:xfrm>
            <a:off x="609600" y="1905000"/>
            <a:ext cx="3302000" cy="3175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979510-CF3F-A7E1-0218-0CBA366BBBC0}"/>
              </a:ext>
            </a:extLst>
          </p:cNvPr>
          <p:cNvSpPr txBox="1"/>
          <p:nvPr/>
        </p:nvSpPr>
        <p:spPr>
          <a:xfrm>
            <a:off x="889000" y="2286000"/>
            <a:ext cx="266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01E2D"/>
                </a:solidFill>
                <a:latin typeface="Arial" panose="020B0604020202020204" pitchFamily="34" charset="0"/>
              </a:rPr>
              <a:t>Dense / uniform</a:t>
            </a:r>
            <a:endParaRPr lang="zh-CN" altLang="en-US" sz="20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BDD46F-66F2-E3D5-B035-1D3FD03B39DE}"/>
              </a:ext>
            </a:extLst>
          </p:cNvPr>
          <p:cNvSpPr txBox="1"/>
          <p:nvPr/>
        </p:nvSpPr>
        <p:spPr>
          <a:xfrm>
            <a:off x="889000" y="2984500"/>
            <a:ext cx="2540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526476"/>
                </a:solidFill>
                <a:latin typeface="Arial" panose="020B0604020202020204" pitchFamily="34" charset="0"/>
              </a:rPr>
              <a:t>Spends heavy computation nearly evenly across a video.</a:t>
            </a:r>
            <a:endParaRPr lang="zh-CN" altLang="en-US" sz="16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FE78D7-487A-0152-13F0-CA0987C0A911}"/>
              </a:ext>
            </a:extLst>
          </p:cNvPr>
          <p:cNvSpPr/>
          <p:nvPr/>
        </p:nvSpPr>
        <p:spPr>
          <a:xfrm>
            <a:off x="4445000" y="1905000"/>
            <a:ext cx="3302000" cy="3175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54EC9B-FC56-A25B-40B3-1F280A9851E4}"/>
              </a:ext>
            </a:extLst>
          </p:cNvPr>
          <p:cNvSpPr txBox="1"/>
          <p:nvPr/>
        </p:nvSpPr>
        <p:spPr>
          <a:xfrm>
            <a:off x="4724400" y="2286000"/>
            <a:ext cx="266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01E2D"/>
                </a:solidFill>
                <a:latin typeface="Arial" panose="020B0604020202020204" pitchFamily="34" charset="0"/>
              </a:rPr>
              <a:t>Actionness Top-K</a:t>
            </a:r>
            <a:endParaRPr lang="zh-CN" altLang="en-US" sz="20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DB91A4-4C4D-FA15-A47B-4DCD75959B7A}"/>
              </a:ext>
            </a:extLst>
          </p:cNvPr>
          <p:cNvSpPr txBox="1"/>
          <p:nvPr/>
        </p:nvSpPr>
        <p:spPr>
          <a:xfrm>
            <a:off x="4724400" y="2984500"/>
            <a:ext cx="2540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526476"/>
                </a:solidFill>
                <a:latin typeface="Arial" panose="020B0604020202020204" pitchFamily="34" charset="0"/>
              </a:rPr>
              <a:t>Tends to concentrate inside broad action plateaus.</a:t>
            </a:r>
            <a:endParaRPr lang="zh-CN" altLang="en-US" sz="16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D7FB18-0439-906E-2DC7-F5364F649538}"/>
              </a:ext>
            </a:extLst>
          </p:cNvPr>
          <p:cNvSpPr/>
          <p:nvPr/>
        </p:nvSpPr>
        <p:spPr>
          <a:xfrm>
            <a:off x="8280400" y="1905000"/>
            <a:ext cx="3302000" cy="3175000"/>
          </a:xfrm>
          <a:prstGeom prst="rect">
            <a:avLst/>
          </a:prstGeom>
          <a:solidFill>
            <a:srgbClr val="E6F4FD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A7F536-EBA3-A87D-DC73-A25A4D3705C1}"/>
              </a:ext>
            </a:extLst>
          </p:cNvPr>
          <p:cNvSpPr txBox="1"/>
          <p:nvPr/>
        </p:nvSpPr>
        <p:spPr>
          <a:xfrm>
            <a:off x="8559800" y="2286000"/>
            <a:ext cx="2667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01E2D"/>
                </a:solidFill>
                <a:latin typeface="Arial" panose="020B0604020202020204" pitchFamily="34" charset="0"/>
              </a:rPr>
              <a:t>DUCA hypothesis</a:t>
            </a:r>
            <a:endParaRPr lang="zh-CN" altLang="en-US" sz="20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92E31F-4A93-8038-E24C-BEF20DE52FAC}"/>
              </a:ext>
            </a:extLst>
          </p:cNvPr>
          <p:cNvSpPr txBox="1"/>
          <p:nvPr/>
        </p:nvSpPr>
        <p:spPr>
          <a:xfrm>
            <a:off x="8559800" y="2984500"/>
            <a:ext cx="2540000" cy="98488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101E2D"/>
                </a:solidFill>
                <a:latin typeface="Arial" panose="020B0604020202020204" pitchFamily="34" charset="0"/>
              </a:rPr>
              <a:t>Use cheap state-transition evidence to protect action boundaries under a fixed budget.</a:t>
            </a:r>
            <a:endParaRPr lang="zh-CN" altLang="en-US" sz="1600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A3BFC3-C1BA-1EBF-86E7-A196AA7E598E}"/>
              </a:ext>
            </a:extLst>
          </p:cNvPr>
          <p:cNvSpPr txBox="1"/>
          <p:nvPr/>
        </p:nvSpPr>
        <p:spPr>
          <a:xfrm>
            <a:off x="609600" y="5588000"/>
            <a:ext cx="10668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101E2D"/>
                </a:solidFill>
                <a:latin typeface="Arial" panose="020B0604020202020204" pitchFamily="34" charset="0"/>
              </a:rPr>
              <a:t>Scientific claim to test: lower total cost AND preserved high-IoU localization.</a:t>
            </a:r>
            <a:endParaRPr lang="zh-CN" altLang="en-US" sz="19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FB12E99-6E37-85FB-B690-5A158F50C3FF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E54F461-DADF-4B64-2D77-350FA7C7153B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Source: research-wiki/duca_paper_story_theory_figure_contract.md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0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553976-029B-D80D-8B9F-180DB85F868E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VISUAL INTUITION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AE7E68-076E-2978-BC59-84C67481CE47}"/>
              </a:ext>
            </a:extLst>
          </p:cNvPr>
          <p:cNvSpPr txBox="1"/>
          <p:nvPr/>
        </p:nvSpPr>
        <p:spPr>
          <a:xfrm>
            <a:off x="609600" y="609600"/>
            <a:ext cx="1054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Why transition evidence, not actionness alone?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7C02364-8C16-B732-CA94-7FFC08DBB1D1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90C4962-C096-A3F2-3313-0466EC4AAC45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03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A7D2EE-BF78-9683-AE6F-09BCC11DFE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51000"/>
            <a:ext cx="10972800" cy="3302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06BD72A-104C-8C1F-03EE-E63E815D27A8}"/>
              </a:ext>
            </a:extLst>
          </p:cNvPr>
          <p:cNvSpPr/>
          <p:nvPr/>
        </p:nvSpPr>
        <p:spPr>
          <a:xfrm>
            <a:off x="609600" y="5270500"/>
            <a:ext cx="10972800" cy="7366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74177B-5D74-B020-49B7-57485836C00C}"/>
              </a:ext>
            </a:extLst>
          </p:cNvPr>
          <p:cNvSpPr txBox="1"/>
          <p:nvPr/>
        </p:nvSpPr>
        <p:spPr>
          <a:xfrm>
            <a:off x="825500" y="5473700"/>
            <a:ext cx="10414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Actionness may be high throughout an action; state change is expected near starts and ends. DUCA seeks bilateral micro-clusters near these transition peaks while retaining global context.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D164F5E-5CB2-920F-A984-88FD89C5EADB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B352CFF-719F-9BFF-A6E3-B9E34D1172F2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Conceptual mechanism only; official mAP remains the deciding evidence.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78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D4124E-3827-DBA3-3038-F131A03C8BD4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NETWORK ARCHITECTURE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B2D4A8-ACD9-CF38-484A-DA9E9B66E37A}"/>
              </a:ext>
            </a:extLst>
          </p:cNvPr>
          <p:cNvSpPr txBox="1"/>
          <p:nvPr/>
        </p:nvSpPr>
        <p:spPr>
          <a:xfrm>
            <a:off x="609600" y="609600"/>
            <a:ext cx="10541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Paper-level network structure: coarse evidence -&gt; constrained acquisition -&gt; detector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3665550-4703-7E83-19FA-46D30483FEAC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5B06752-0E47-DB64-D19C-B10747FBC9CA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04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BBBB17-F0A7-0F54-61DC-278A894E1099}"/>
              </a:ext>
            </a:extLst>
          </p:cNvPr>
          <p:cNvSpPr/>
          <p:nvPr/>
        </p:nvSpPr>
        <p:spPr>
          <a:xfrm>
            <a:off x="609600" y="2413000"/>
            <a:ext cx="1587500" cy="14224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0755C8-BA3D-15F8-0381-16E9A642BA0F}"/>
              </a:ext>
            </a:extLst>
          </p:cNvPr>
          <p:cNvSpPr txBox="1"/>
          <p:nvPr/>
        </p:nvSpPr>
        <p:spPr>
          <a:xfrm>
            <a:off x="736600" y="2717800"/>
            <a:ext cx="1333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Input video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8" name="箭头: V 形 7">
            <a:extLst>
              <a:ext uri="{FF2B5EF4-FFF2-40B4-BE49-F238E27FC236}">
                <a16:creationId xmlns:a16="http://schemas.microsoft.com/office/drawing/2014/main" id="{241575EE-8F8F-4878-16E9-A512E03C7C21}"/>
              </a:ext>
            </a:extLst>
          </p:cNvPr>
          <p:cNvSpPr/>
          <p:nvPr/>
        </p:nvSpPr>
        <p:spPr>
          <a:xfrm>
            <a:off x="2209800" y="2895600"/>
            <a:ext cx="215900" cy="355600"/>
          </a:xfrm>
          <a:prstGeom prst="chevron">
            <a:avLst/>
          </a:prstGeom>
          <a:solidFill>
            <a:srgbClr val="2E97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7611A2-E2CD-3EE4-5BAA-54560AF8A75E}"/>
              </a:ext>
            </a:extLst>
          </p:cNvPr>
          <p:cNvSpPr/>
          <p:nvPr/>
        </p:nvSpPr>
        <p:spPr>
          <a:xfrm>
            <a:off x="2451100" y="2413000"/>
            <a:ext cx="1587500" cy="14224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DB7B59-DC27-87A3-96FF-375CFFEB20D0}"/>
              </a:ext>
            </a:extLst>
          </p:cNvPr>
          <p:cNvSpPr txBox="1"/>
          <p:nvPr/>
        </p:nvSpPr>
        <p:spPr>
          <a:xfrm>
            <a:off x="2578100" y="2717800"/>
            <a:ext cx="1333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Low-cost coarse probe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DA7A7095-860E-2449-51FE-A381ED873C27}"/>
              </a:ext>
            </a:extLst>
          </p:cNvPr>
          <p:cNvSpPr/>
          <p:nvPr/>
        </p:nvSpPr>
        <p:spPr>
          <a:xfrm>
            <a:off x="4051300" y="2895600"/>
            <a:ext cx="215900" cy="355600"/>
          </a:xfrm>
          <a:prstGeom prst="chevron">
            <a:avLst/>
          </a:prstGeom>
          <a:solidFill>
            <a:srgbClr val="2E97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D775A8-AD69-CB4B-5CB4-ED8DC8EF733C}"/>
              </a:ext>
            </a:extLst>
          </p:cNvPr>
          <p:cNvSpPr/>
          <p:nvPr/>
        </p:nvSpPr>
        <p:spPr>
          <a:xfrm>
            <a:off x="4292600" y="2413000"/>
            <a:ext cx="1587500" cy="14224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9B9910-2D96-D3A4-6445-35930EB00570}"/>
              </a:ext>
            </a:extLst>
          </p:cNvPr>
          <p:cNvSpPr txBox="1"/>
          <p:nvPr/>
        </p:nvSpPr>
        <p:spPr>
          <a:xfrm>
            <a:off x="4419600" y="2717800"/>
            <a:ext cx="1333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Transition / boundary utility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4" name="箭头: V 形 13">
            <a:extLst>
              <a:ext uri="{FF2B5EF4-FFF2-40B4-BE49-F238E27FC236}">
                <a16:creationId xmlns:a16="http://schemas.microsoft.com/office/drawing/2014/main" id="{B686625A-56B4-4034-219D-CC04A17DD58D}"/>
              </a:ext>
            </a:extLst>
          </p:cNvPr>
          <p:cNvSpPr/>
          <p:nvPr/>
        </p:nvSpPr>
        <p:spPr>
          <a:xfrm>
            <a:off x="5892800" y="2895600"/>
            <a:ext cx="215900" cy="355600"/>
          </a:xfrm>
          <a:prstGeom prst="chevron">
            <a:avLst/>
          </a:prstGeom>
          <a:solidFill>
            <a:srgbClr val="2E97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05E1EB-DEB6-E79C-9959-BC06F1D7E175}"/>
              </a:ext>
            </a:extLst>
          </p:cNvPr>
          <p:cNvSpPr/>
          <p:nvPr/>
        </p:nvSpPr>
        <p:spPr>
          <a:xfrm>
            <a:off x="6134100" y="2413000"/>
            <a:ext cx="1587500" cy="1422400"/>
          </a:xfrm>
          <a:prstGeom prst="rect">
            <a:avLst/>
          </a:prstGeom>
          <a:solidFill>
            <a:srgbClr val="E6F4FD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8E681B-F4C5-4DEB-20B8-606B091B6967}"/>
              </a:ext>
            </a:extLst>
          </p:cNvPr>
          <p:cNvSpPr txBox="1"/>
          <p:nvPr/>
        </p:nvSpPr>
        <p:spPr>
          <a:xfrm>
            <a:off x="6261100" y="2717800"/>
            <a:ext cx="1333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Exact-K / max-gap DP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7" name="箭头: V 形 16">
            <a:extLst>
              <a:ext uri="{FF2B5EF4-FFF2-40B4-BE49-F238E27FC236}">
                <a16:creationId xmlns:a16="http://schemas.microsoft.com/office/drawing/2014/main" id="{8866C39E-478F-9CEE-DBCD-4908B2F0BCAB}"/>
              </a:ext>
            </a:extLst>
          </p:cNvPr>
          <p:cNvSpPr/>
          <p:nvPr/>
        </p:nvSpPr>
        <p:spPr>
          <a:xfrm>
            <a:off x="7734300" y="2895600"/>
            <a:ext cx="215900" cy="355600"/>
          </a:xfrm>
          <a:prstGeom prst="chevron">
            <a:avLst/>
          </a:prstGeom>
          <a:solidFill>
            <a:srgbClr val="2E97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32CBE9-B08C-133B-BC14-E87A779ED583}"/>
              </a:ext>
            </a:extLst>
          </p:cNvPr>
          <p:cNvSpPr/>
          <p:nvPr/>
        </p:nvSpPr>
        <p:spPr>
          <a:xfrm>
            <a:off x="7975600" y="2413000"/>
            <a:ext cx="1587500" cy="14224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A14A7B7-979D-4D97-4CD1-EC06878AC269}"/>
              </a:ext>
            </a:extLst>
          </p:cNvPr>
          <p:cNvSpPr txBox="1"/>
          <p:nvPr/>
        </p:nvSpPr>
        <p:spPr>
          <a:xfrm>
            <a:off x="8102600" y="2717800"/>
            <a:ext cx="1333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VideoMAE + AdaTAD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345E0459-9A3D-70FC-729B-649478F7AD97}"/>
              </a:ext>
            </a:extLst>
          </p:cNvPr>
          <p:cNvSpPr/>
          <p:nvPr/>
        </p:nvSpPr>
        <p:spPr>
          <a:xfrm>
            <a:off x="9575800" y="2895600"/>
            <a:ext cx="215900" cy="355600"/>
          </a:xfrm>
          <a:prstGeom prst="chevron">
            <a:avLst/>
          </a:prstGeom>
          <a:solidFill>
            <a:srgbClr val="2E97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95D635-0D58-6B6F-FD50-2FDC746BB54E}"/>
              </a:ext>
            </a:extLst>
          </p:cNvPr>
          <p:cNvSpPr/>
          <p:nvPr/>
        </p:nvSpPr>
        <p:spPr>
          <a:xfrm>
            <a:off x="9817100" y="2413000"/>
            <a:ext cx="1587500" cy="14224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E6F4712-0933-4BDE-F6AE-F968E93616D2}"/>
              </a:ext>
            </a:extLst>
          </p:cNvPr>
          <p:cNvSpPr txBox="1"/>
          <p:nvPr/>
        </p:nvSpPr>
        <p:spPr>
          <a:xfrm>
            <a:off x="9944100" y="2717800"/>
            <a:ext cx="1333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Proposals + mAP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878FE4-9883-9302-F614-DC1F2FE534DA}"/>
              </a:ext>
            </a:extLst>
          </p:cNvPr>
          <p:cNvSpPr txBox="1"/>
          <p:nvPr/>
        </p:nvSpPr>
        <p:spPr>
          <a:xfrm>
            <a:off x="609600" y="4445000"/>
            <a:ext cx="1066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700" b="1">
                <a:solidFill>
                  <a:srgbClr val="101E2D"/>
                </a:solidFill>
                <a:latin typeface="Arial" panose="020B0604020202020204" pitchFamily="34" charset="0"/>
              </a:rPr>
              <a:t>768 candidate positions -&gt; K hard observations; constraints prevent collapse into a few action interiors.</a:t>
            </a:r>
            <a:endParaRPr lang="zh-CN" altLang="en-US" sz="17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12C248-492A-D9F0-4A29-8D38C89FD1D4}"/>
              </a:ext>
            </a:extLst>
          </p:cNvPr>
          <p:cNvSpPr/>
          <p:nvPr/>
        </p:nvSpPr>
        <p:spPr>
          <a:xfrm>
            <a:off x="609600" y="5143500"/>
            <a:ext cx="10972800" cy="800100"/>
          </a:xfrm>
          <a:prstGeom prst="rect">
            <a:avLst/>
          </a:prstGeom>
          <a:solidFill>
            <a:srgbClr val="FFF9EF"/>
          </a:solidFill>
          <a:ln>
            <a:solidFill>
              <a:srgbClr val="F9C7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A65F707-5C88-54E9-C704-337E79F2C782}"/>
              </a:ext>
            </a:extLst>
          </p:cNvPr>
          <p:cNvSpPr txBox="1"/>
          <p:nvPr/>
        </p:nvSpPr>
        <p:spPr>
          <a:xfrm>
            <a:off x="863600" y="5397500"/>
            <a:ext cx="1041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>
                <a:solidFill>
                  <a:srgbClr val="526476"/>
                </a:solidFill>
                <a:latin typeface="Arial" panose="020B0604020202020204" pitchFamily="34" charset="0"/>
              </a:rPr>
              <a:t>Invariant: the official-derived detector head, loss, NMS, and terminal evaluator remain on the downstream path.</a:t>
            </a:r>
            <a:endParaRPr lang="zh-CN" altLang="en-US" sz="15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8EF03D6-B8D7-B8AF-E145-0EBCCBB60DBB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DA36CAA-CA50-383D-DE7F-8BEE1B6D4813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Current model is offline; validation/test GT, teacher, cache and checkpoint selection are excluded from inference.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42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452615-2E85-C6F0-FD2F-08978D4D9FB4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OPTIMIZATION PRINCIPLE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93D239-E402-1AE1-3B32-B417C7B74ECA}"/>
              </a:ext>
            </a:extLst>
          </p:cNvPr>
          <p:cNvSpPr txBox="1"/>
          <p:nvPr/>
        </p:nvSpPr>
        <p:spPr>
          <a:xfrm>
            <a:off x="609600" y="609600"/>
            <a:ext cx="1054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What the selector optimizes, and what it does not promise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F6D1AE0-3DFC-01F9-7002-6B17E13B0891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2B5473E-6562-444A-F89A-6FFE94601E80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05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9052C1-498B-5912-C870-0D3E1EF812E0}"/>
              </a:ext>
            </a:extLst>
          </p:cNvPr>
          <p:cNvSpPr/>
          <p:nvPr/>
        </p:nvSpPr>
        <p:spPr>
          <a:xfrm>
            <a:off x="609600" y="1905000"/>
            <a:ext cx="10972800" cy="1270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7B7C48-9D75-0C2A-FB37-69EB7CA8FE29}"/>
              </a:ext>
            </a:extLst>
          </p:cNvPr>
          <p:cNvSpPr txBox="1"/>
          <p:nvPr/>
        </p:nvSpPr>
        <p:spPr>
          <a:xfrm>
            <a:off x="889000" y="2260600"/>
            <a:ext cx="10414000" cy="58477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900" b="1">
                <a:solidFill>
                  <a:srgbClr val="101E2D"/>
                </a:solidFill>
                <a:latin typeface="Arial" panose="020B0604020202020204" pitchFamily="34" charset="0"/>
              </a:rPr>
              <a:t>max U(z) = transition anchors + bilateral burst utility + residual context - redundant concentration</a:t>
            </a:r>
            <a:endParaRPr lang="zh-CN" altLang="en-US" sz="19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B668D9-20CC-7928-8E66-1EDB134AE4F2}"/>
              </a:ext>
            </a:extLst>
          </p:cNvPr>
          <p:cNvSpPr txBox="1"/>
          <p:nvPr/>
        </p:nvSpPr>
        <p:spPr>
          <a:xfrm>
            <a:off x="889000" y="2730500"/>
            <a:ext cx="1041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>
                <a:solidFill>
                  <a:srgbClr val="526476"/>
                </a:solidFill>
                <a:latin typeface="Arial" panose="020B0604020202020204" pitchFamily="34" charset="0"/>
              </a:rPr>
              <a:t>constraints: sum(z)=K; max unselected hole=G; chronological, unique selected positions</a:t>
            </a:r>
            <a:endParaRPr lang="zh-CN" altLang="en-US" sz="15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E06CF-D856-38B1-0F47-58B3A2B0B07B}"/>
              </a:ext>
            </a:extLst>
          </p:cNvPr>
          <p:cNvSpPr/>
          <p:nvPr/>
        </p:nvSpPr>
        <p:spPr>
          <a:xfrm>
            <a:off x="609600" y="3683000"/>
            <a:ext cx="330200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CA5124-D376-D48F-31CA-0DD69EBE3973}"/>
              </a:ext>
            </a:extLst>
          </p:cNvPr>
          <p:cNvSpPr txBox="1"/>
          <p:nvPr/>
        </p:nvSpPr>
        <p:spPr>
          <a:xfrm>
            <a:off x="863600" y="4000500"/>
            <a:ext cx="266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2E97DA"/>
                </a:solidFill>
                <a:latin typeface="Arial" panose="020B0604020202020204" pitchFamily="34" charset="0"/>
              </a:rPr>
              <a:t>Transition anchors</a:t>
            </a:r>
            <a:endParaRPr lang="zh-CN" altLang="en-US" sz="16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EA3945-6DA4-F4C7-F791-2F8C53ABD22F}"/>
              </a:ext>
            </a:extLst>
          </p:cNvPr>
          <p:cNvSpPr txBox="1"/>
          <p:nvPr/>
        </p:nvSpPr>
        <p:spPr>
          <a:xfrm>
            <a:off x="863600" y="44450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26476"/>
                </a:solidFill>
                <a:latin typeface="Arial" panose="020B0604020202020204" pitchFamily="34" charset="0"/>
              </a:rPr>
              <a:t>State change is a boundary proxy.</a:t>
            </a:r>
            <a:endParaRPr lang="zh-CN" altLang="en-US" sz="14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149256-F14F-A647-FEFD-61E4A5741D21}"/>
              </a:ext>
            </a:extLst>
          </p:cNvPr>
          <p:cNvSpPr/>
          <p:nvPr/>
        </p:nvSpPr>
        <p:spPr>
          <a:xfrm>
            <a:off x="4445000" y="3683000"/>
            <a:ext cx="330200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5A91C5-C559-7C08-07FC-34F1ECCFE15D}"/>
              </a:ext>
            </a:extLst>
          </p:cNvPr>
          <p:cNvSpPr txBox="1"/>
          <p:nvPr/>
        </p:nvSpPr>
        <p:spPr>
          <a:xfrm>
            <a:off x="4699000" y="4000500"/>
            <a:ext cx="266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EE8C3D"/>
                </a:solidFill>
                <a:latin typeface="Arial" panose="020B0604020202020204" pitchFamily="34" charset="0"/>
              </a:rPr>
              <a:t>Bilateral burst</a:t>
            </a:r>
            <a:endParaRPr lang="zh-CN" altLang="en-US" sz="1600" b="1">
              <a:solidFill>
                <a:srgbClr val="EE8C3D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32FD589-BBEC-30B8-A28E-BB35998AF828}"/>
              </a:ext>
            </a:extLst>
          </p:cNvPr>
          <p:cNvSpPr txBox="1"/>
          <p:nvPr/>
        </p:nvSpPr>
        <p:spPr>
          <a:xfrm>
            <a:off x="4699000" y="44450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26476"/>
                </a:solidFill>
                <a:latin typeface="Arial" panose="020B0604020202020204" pitchFamily="34" charset="0"/>
              </a:rPr>
              <a:t>Both sides disambiguate before/after state.</a:t>
            </a:r>
            <a:endParaRPr lang="zh-CN" altLang="en-US" sz="14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E55569-765E-537F-2EBD-E806E37A4FF8}"/>
              </a:ext>
            </a:extLst>
          </p:cNvPr>
          <p:cNvSpPr/>
          <p:nvPr/>
        </p:nvSpPr>
        <p:spPr>
          <a:xfrm>
            <a:off x="8280400" y="3683000"/>
            <a:ext cx="3302000" cy="171450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418128-9F90-1CC4-A74F-3DFDD44942D1}"/>
              </a:ext>
            </a:extLst>
          </p:cNvPr>
          <p:cNvSpPr txBox="1"/>
          <p:nvPr/>
        </p:nvSpPr>
        <p:spPr>
          <a:xfrm>
            <a:off x="8534400" y="4000500"/>
            <a:ext cx="266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469B78"/>
                </a:solidFill>
                <a:latin typeface="Arial" panose="020B0604020202020204" pitchFamily="34" charset="0"/>
              </a:rPr>
              <a:t>Residual context</a:t>
            </a:r>
            <a:endParaRPr lang="zh-CN" altLang="en-US" sz="1600" b="1">
              <a:solidFill>
                <a:srgbClr val="469B78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829479-39CD-77D5-9D27-2EE4F9D0D09F}"/>
              </a:ext>
            </a:extLst>
          </p:cNvPr>
          <p:cNvSpPr txBox="1"/>
          <p:nvPr/>
        </p:nvSpPr>
        <p:spPr>
          <a:xfrm>
            <a:off x="8534400" y="44450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26476"/>
                </a:solidFill>
                <a:latin typeface="Arial" panose="020B0604020202020204" pitchFamily="34" charset="0"/>
              </a:rPr>
              <a:t>Coverage prevents boundary-only collapse.</a:t>
            </a:r>
            <a:endParaRPr lang="zh-CN" altLang="en-US" sz="14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668D024-AF0F-9C13-BCCF-668AEBDA14BE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B98CAE9-881C-8700-5D5D-EDFFBB1C1B50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DP optimality is only within its declared feasible K/G family; it is not an mAP guarantee.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87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13FB31-A1CF-389B-225D-2655DADEEAC7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PROTOCOL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2A7DFA-AA90-8F78-1F76-1CF6B642AB53}"/>
              </a:ext>
            </a:extLst>
          </p:cNvPr>
          <p:cNvSpPr txBox="1"/>
          <p:nvPr/>
        </p:nvSpPr>
        <p:spPr>
          <a:xfrm>
            <a:off x="609600" y="609600"/>
            <a:ext cx="1054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Training / inference separation and evidence hygiene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74F2A11-F734-A6A6-38FA-6C83B1196788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43B4F64-79CF-CA1F-F487-64A0CCFB2B2A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06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6B5F12-5D98-9C61-A81E-18DC752B0B36}"/>
              </a:ext>
            </a:extLst>
          </p:cNvPr>
          <p:cNvSpPr/>
          <p:nvPr/>
        </p:nvSpPr>
        <p:spPr>
          <a:xfrm>
            <a:off x="609600" y="2159000"/>
            <a:ext cx="2413000" cy="2095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FD4B55-669F-5440-E18C-F0EB7DD83CD4}"/>
              </a:ext>
            </a:extLst>
          </p:cNvPr>
          <p:cNvSpPr txBox="1"/>
          <p:nvPr/>
        </p:nvSpPr>
        <p:spPr>
          <a:xfrm>
            <a:off x="825500" y="2438400"/>
            <a:ext cx="190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TRAIN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77989D-E8DB-F085-4277-F869D29AFEAC}"/>
              </a:ext>
            </a:extLst>
          </p:cNvPr>
          <p:cNvSpPr txBox="1"/>
          <p:nvPr/>
        </p:nvSpPr>
        <p:spPr>
          <a:xfrm>
            <a:off x="825500" y="2984500"/>
            <a:ext cx="19685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coarse action + transition labels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F9AAD5-AD67-D785-38DB-5F52FBABEFD2}"/>
              </a:ext>
            </a:extLst>
          </p:cNvPr>
          <p:cNvSpPr txBox="1"/>
          <p:nvPr/>
        </p:nvSpPr>
        <p:spPr>
          <a:xfrm>
            <a:off x="825500" y="3873500"/>
            <a:ext cx="1968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</a:rPr>
              <a:t>train-only</a:t>
            </a:r>
            <a:endParaRPr lang="zh-CN" altLang="en-US" sz="12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2D2BF3-D355-8C6E-DF19-8D73E50924AF}"/>
              </a:ext>
            </a:extLst>
          </p:cNvPr>
          <p:cNvSpPr/>
          <p:nvPr/>
        </p:nvSpPr>
        <p:spPr>
          <a:xfrm>
            <a:off x="3365500" y="2159000"/>
            <a:ext cx="2413000" cy="2095500"/>
          </a:xfrm>
          <a:prstGeom prst="rect">
            <a:avLst/>
          </a:prstGeom>
          <a:solidFill>
            <a:srgbClr val="E6F4FD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006EAB-90EB-E0AD-487B-663E13EDF1F9}"/>
              </a:ext>
            </a:extLst>
          </p:cNvPr>
          <p:cNvSpPr txBox="1"/>
          <p:nvPr/>
        </p:nvSpPr>
        <p:spPr>
          <a:xfrm>
            <a:off x="3581400" y="2438400"/>
            <a:ext cx="190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SELECT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1DF721-7288-A4F4-A298-2C522F6D8633}"/>
              </a:ext>
            </a:extLst>
          </p:cNvPr>
          <p:cNvSpPr txBox="1"/>
          <p:nvPr/>
        </p:nvSpPr>
        <p:spPr>
          <a:xfrm>
            <a:off x="3581400" y="2984500"/>
            <a:ext cx="1968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hard exact-K policy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39DD39-C73E-6AFF-4D39-920F0D17F0B7}"/>
              </a:ext>
            </a:extLst>
          </p:cNvPr>
          <p:cNvSpPr txBox="1"/>
          <p:nvPr/>
        </p:nvSpPr>
        <p:spPr>
          <a:xfrm>
            <a:off x="3581400" y="3873500"/>
            <a:ext cx="1968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</a:rPr>
              <a:t>deploy-visible</a:t>
            </a:r>
            <a:endParaRPr lang="zh-CN" altLang="en-US" sz="12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BE7D9B-66F4-F08F-972E-FE32220FDB1A}"/>
              </a:ext>
            </a:extLst>
          </p:cNvPr>
          <p:cNvSpPr/>
          <p:nvPr/>
        </p:nvSpPr>
        <p:spPr>
          <a:xfrm>
            <a:off x="6121400" y="2159000"/>
            <a:ext cx="2413000" cy="2095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9A8423-9484-976A-D893-39C423E22BFB}"/>
              </a:ext>
            </a:extLst>
          </p:cNvPr>
          <p:cNvSpPr txBox="1"/>
          <p:nvPr/>
        </p:nvSpPr>
        <p:spPr>
          <a:xfrm>
            <a:off x="6337300" y="2438400"/>
            <a:ext cx="190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DETECT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88B4D8A-8BBE-1CCD-93D1-4CBE35BD0C4B}"/>
              </a:ext>
            </a:extLst>
          </p:cNvPr>
          <p:cNvSpPr txBox="1"/>
          <p:nvPr/>
        </p:nvSpPr>
        <p:spPr>
          <a:xfrm>
            <a:off x="6337300" y="2984500"/>
            <a:ext cx="1968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VideoMAE + AdaTAD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C06D80-B8E8-C79C-6D1F-0B197AE79460}"/>
              </a:ext>
            </a:extLst>
          </p:cNvPr>
          <p:cNvSpPr txBox="1"/>
          <p:nvPr/>
        </p:nvSpPr>
        <p:spPr>
          <a:xfrm>
            <a:off x="6337300" y="3873500"/>
            <a:ext cx="1968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</a:rPr>
              <a:t>terminal metric</a:t>
            </a:r>
            <a:endParaRPr lang="zh-CN" altLang="en-US" sz="12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AD7B73-C318-E4D6-B845-CA96544A4EC9}"/>
              </a:ext>
            </a:extLst>
          </p:cNvPr>
          <p:cNvSpPr/>
          <p:nvPr/>
        </p:nvSpPr>
        <p:spPr>
          <a:xfrm>
            <a:off x="8877300" y="2159000"/>
            <a:ext cx="2413000" cy="2095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CA91C5-6FDE-2954-D5A8-C835A1882F3C}"/>
              </a:ext>
            </a:extLst>
          </p:cNvPr>
          <p:cNvSpPr txBox="1"/>
          <p:nvPr/>
        </p:nvSpPr>
        <p:spPr>
          <a:xfrm>
            <a:off x="9093200" y="2438400"/>
            <a:ext cx="190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AUDIT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F2E4890-F9C0-253B-B1F3-702323A39D01}"/>
              </a:ext>
            </a:extLst>
          </p:cNvPr>
          <p:cNvSpPr txBox="1"/>
          <p:nvPr/>
        </p:nvSpPr>
        <p:spPr>
          <a:xfrm>
            <a:off x="9093200" y="2984500"/>
            <a:ext cx="1968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geometry + cost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DBF6B3-6F61-C9D5-DB82-45C88B499E10}"/>
              </a:ext>
            </a:extLst>
          </p:cNvPr>
          <p:cNvSpPr txBox="1"/>
          <p:nvPr/>
        </p:nvSpPr>
        <p:spPr>
          <a:xfrm>
            <a:off x="9093200" y="3873500"/>
            <a:ext cx="1968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</a:rPr>
              <a:t>post-hoc only</a:t>
            </a:r>
            <a:endParaRPr lang="zh-CN" altLang="en-US" sz="12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434C62-7DCF-585D-B5A5-07D20D31CF01}"/>
              </a:ext>
            </a:extLst>
          </p:cNvPr>
          <p:cNvSpPr/>
          <p:nvPr/>
        </p:nvSpPr>
        <p:spPr>
          <a:xfrm>
            <a:off x="609600" y="4851400"/>
            <a:ext cx="10972800" cy="952500"/>
          </a:xfrm>
          <a:prstGeom prst="rect">
            <a:avLst/>
          </a:prstGeom>
          <a:solidFill>
            <a:srgbClr val="FFF4F4"/>
          </a:solidFill>
          <a:ln>
            <a:solidFill>
              <a:srgbClr val="EFA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2542B4-9060-38CA-3CBF-048FDB6EE2D4}"/>
              </a:ext>
            </a:extLst>
          </p:cNvPr>
          <p:cNvSpPr txBox="1"/>
          <p:nvPr/>
        </p:nvSpPr>
        <p:spPr>
          <a:xfrm>
            <a:off x="838200" y="5156200"/>
            <a:ext cx="10541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DA5353"/>
                </a:solidFill>
                <a:latin typeface="Arial" panose="020B0604020202020204" pitchFamily="34" charset="0"/>
              </a:rPr>
              <a:t>Prohibited at deployment: validation/test GT, teacher signals, raw prediction cache, and mAP-based checkpoint selection.</a:t>
            </a:r>
            <a:endParaRPr lang="zh-CN" altLang="en-US" sz="1600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BBE0158-3377-9D54-801A-3F91EA4E8A67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F63FC36-71F6-5C4E-0F6F-A5A1C5634742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A proxy improvement is not allowed to stand in for official terminal mAP.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229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55F9E0-42F8-3BC1-7982-1EEE5ED79546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VERSION EVOLUTION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18B8FA-FD0B-B0B9-2CF6-926DA90BFF0C}"/>
              </a:ext>
            </a:extLst>
          </p:cNvPr>
          <p:cNvSpPr txBox="1"/>
          <p:nvPr/>
        </p:nvSpPr>
        <p:spPr>
          <a:xfrm>
            <a:off x="609600" y="609600"/>
            <a:ext cx="1054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Version lineage: each branch tested one bounded hypothesis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F93821F-7F02-B538-2DD3-A9ED7C662031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FDA21D6-E9C1-7F37-2826-EA952C47A80E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07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3DABA-515D-9B6E-B390-4BEB36A0E407}"/>
              </a:ext>
            </a:extLst>
          </p:cNvPr>
          <p:cNvSpPr/>
          <p:nvPr/>
        </p:nvSpPr>
        <p:spPr>
          <a:xfrm>
            <a:off x="609600" y="2159000"/>
            <a:ext cx="1587500" cy="2222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583033-2A5F-2E55-60AF-A36DF797929A}"/>
              </a:ext>
            </a:extLst>
          </p:cNvPr>
          <p:cNvSpPr txBox="1"/>
          <p:nvPr/>
        </p:nvSpPr>
        <p:spPr>
          <a:xfrm>
            <a:off x="762000" y="2413000"/>
            <a:ext cx="12827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V1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9E89A0-A1FC-008C-579E-88F99F673080}"/>
              </a:ext>
            </a:extLst>
          </p:cNvPr>
          <p:cNvSpPr txBox="1"/>
          <p:nvPr/>
        </p:nvSpPr>
        <p:spPr>
          <a:xfrm>
            <a:off x="762000" y="2984500"/>
            <a:ext cx="128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transition-only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11D168-7D67-D299-3F04-D75E3224863F}"/>
              </a:ext>
            </a:extLst>
          </p:cNvPr>
          <p:cNvSpPr txBox="1"/>
          <p:nvPr/>
        </p:nvSpPr>
        <p:spPr>
          <a:xfrm>
            <a:off x="762000" y="3873500"/>
            <a:ext cx="12827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</a:rPr>
              <a:t>weak positive signal</a:t>
            </a:r>
            <a:endParaRPr lang="zh-CN" altLang="en-US" sz="11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FF8AFD-E4E8-830B-066A-577E016D9E25}"/>
              </a:ext>
            </a:extLst>
          </p:cNvPr>
          <p:cNvSpPr/>
          <p:nvPr/>
        </p:nvSpPr>
        <p:spPr>
          <a:xfrm>
            <a:off x="2451100" y="2159000"/>
            <a:ext cx="1587500" cy="2222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C6907A-005C-427E-9609-973719F3160F}"/>
              </a:ext>
            </a:extLst>
          </p:cNvPr>
          <p:cNvSpPr txBox="1"/>
          <p:nvPr/>
        </p:nvSpPr>
        <p:spPr>
          <a:xfrm>
            <a:off x="2603500" y="2413000"/>
            <a:ext cx="12827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V2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3EDBD6-8194-FBB2-9587-49015A934185}"/>
              </a:ext>
            </a:extLst>
          </p:cNvPr>
          <p:cNvSpPr txBox="1"/>
          <p:nvPr/>
        </p:nvSpPr>
        <p:spPr>
          <a:xfrm>
            <a:off x="2603500" y="2984500"/>
            <a:ext cx="128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CellCF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9800A8-171B-6917-E426-AA2D03A99EFA}"/>
              </a:ext>
            </a:extLst>
          </p:cNvPr>
          <p:cNvSpPr txBox="1"/>
          <p:nvPr/>
        </p:nvSpPr>
        <p:spPr>
          <a:xfrm>
            <a:off x="2603500" y="3873500"/>
            <a:ext cx="12827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</a:rPr>
              <a:t>below transition baseline</a:t>
            </a:r>
            <a:endParaRPr lang="zh-CN" altLang="en-US" sz="11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F1DF5C-0B48-739E-5EE6-7D3AF6FA11F1}"/>
              </a:ext>
            </a:extLst>
          </p:cNvPr>
          <p:cNvSpPr/>
          <p:nvPr/>
        </p:nvSpPr>
        <p:spPr>
          <a:xfrm>
            <a:off x="4292600" y="2159000"/>
            <a:ext cx="1587500" cy="2222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5899D3-A6C9-421B-42D9-843A581B8074}"/>
              </a:ext>
            </a:extLst>
          </p:cNvPr>
          <p:cNvSpPr txBox="1"/>
          <p:nvPr/>
        </p:nvSpPr>
        <p:spPr>
          <a:xfrm>
            <a:off x="4445000" y="2413000"/>
            <a:ext cx="12827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V5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89065B-2B38-F9A7-D562-6AD30B98EA6B}"/>
              </a:ext>
            </a:extLst>
          </p:cNvPr>
          <p:cNvSpPr txBox="1"/>
          <p:nvPr/>
        </p:nvSpPr>
        <p:spPr>
          <a:xfrm>
            <a:off x="4445000" y="2984500"/>
            <a:ext cx="12827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global learned bridge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92D1B5-269F-7C56-2FB4-489FB67684AA}"/>
              </a:ext>
            </a:extLst>
          </p:cNvPr>
          <p:cNvSpPr txBox="1"/>
          <p:nvPr/>
        </p:nvSpPr>
        <p:spPr>
          <a:xfrm>
            <a:off x="4445000" y="3873500"/>
            <a:ext cx="12827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</a:rPr>
              <a:t>all learned &lt; uniform</a:t>
            </a:r>
            <a:endParaRPr lang="zh-CN" altLang="en-US" sz="11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BE144C-BD86-FCA6-86A5-53BE23EB8161}"/>
              </a:ext>
            </a:extLst>
          </p:cNvPr>
          <p:cNvSpPr/>
          <p:nvPr/>
        </p:nvSpPr>
        <p:spPr>
          <a:xfrm>
            <a:off x="6134100" y="2159000"/>
            <a:ext cx="1587500" cy="2222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04DC4E-A4FC-0DA8-8C9F-320058E0F677}"/>
              </a:ext>
            </a:extLst>
          </p:cNvPr>
          <p:cNvSpPr txBox="1"/>
          <p:nvPr/>
        </p:nvSpPr>
        <p:spPr>
          <a:xfrm>
            <a:off x="6286500" y="2413000"/>
            <a:ext cx="12827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V8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590838-DA72-62F5-6BAC-E47461745E23}"/>
              </a:ext>
            </a:extLst>
          </p:cNvPr>
          <p:cNvSpPr txBox="1"/>
          <p:nvPr/>
        </p:nvSpPr>
        <p:spPr>
          <a:xfrm>
            <a:off x="6286500" y="2984500"/>
            <a:ext cx="128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P0 curriculum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4696C3-A1DD-A223-18B0-6E196186C40A}"/>
              </a:ext>
            </a:extLst>
          </p:cNvPr>
          <p:cNvSpPr txBox="1"/>
          <p:nvPr/>
        </p:nvSpPr>
        <p:spPr>
          <a:xfrm>
            <a:off x="6286500" y="3873500"/>
            <a:ext cx="12827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</a:rPr>
              <a:t>mechanism hold</a:t>
            </a:r>
            <a:endParaRPr lang="zh-CN" altLang="en-US" sz="11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77F514-EE8F-19CF-B9FF-EF2D6887B282}"/>
              </a:ext>
            </a:extLst>
          </p:cNvPr>
          <p:cNvSpPr/>
          <p:nvPr/>
        </p:nvSpPr>
        <p:spPr>
          <a:xfrm>
            <a:off x="7975600" y="2159000"/>
            <a:ext cx="1587500" cy="2222500"/>
          </a:xfrm>
          <a:prstGeom prst="rect">
            <a:avLst/>
          </a:prstGeom>
          <a:solidFill>
            <a:srgbClr val="F4F7FA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0020C5-7725-74B3-2921-AB4DF6B35F0E}"/>
              </a:ext>
            </a:extLst>
          </p:cNvPr>
          <p:cNvSpPr txBox="1"/>
          <p:nvPr/>
        </p:nvSpPr>
        <p:spPr>
          <a:xfrm>
            <a:off x="8128000" y="2413000"/>
            <a:ext cx="12827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Boundary-burst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BCC589-A8EC-CA6F-8DBF-6328FE5C3FE1}"/>
              </a:ext>
            </a:extLst>
          </p:cNvPr>
          <p:cNvSpPr txBox="1"/>
          <p:nvPr/>
        </p:nvSpPr>
        <p:spPr>
          <a:xfrm>
            <a:off x="8128000" y="2984500"/>
            <a:ext cx="12827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bilateral / quota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F6E036-758C-0D23-7276-C837EA80F520}"/>
              </a:ext>
            </a:extLst>
          </p:cNvPr>
          <p:cNvSpPr txBox="1"/>
          <p:nvPr/>
        </p:nvSpPr>
        <p:spPr>
          <a:xfrm>
            <a:off x="8128000" y="3873500"/>
            <a:ext cx="12827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</a:rPr>
              <a:t>current R0-R5</a:t>
            </a:r>
            <a:endParaRPr lang="zh-CN" altLang="en-US" sz="11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04AFA84-95C5-001F-EC6E-F02FE7E6720C}"/>
              </a:ext>
            </a:extLst>
          </p:cNvPr>
          <p:cNvSpPr/>
          <p:nvPr/>
        </p:nvSpPr>
        <p:spPr>
          <a:xfrm>
            <a:off x="9817100" y="2159000"/>
            <a:ext cx="1587500" cy="2222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801DF11-3CF7-9AFA-1BA5-530A84831785}"/>
              </a:ext>
            </a:extLst>
          </p:cNvPr>
          <p:cNvSpPr txBox="1"/>
          <p:nvPr/>
        </p:nvSpPr>
        <p:spPr>
          <a:xfrm>
            <a:off x="9969500" y="2413000"/>
            <a:ext cx="12827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2E97DA"/>
                </a:solidFill>
                <a:latin typeface="Arial" panose="020B0604020202020204" pitchFamily="34" charset="0"/>
              </a:rPr>
              <a:t>T1/MobileNet</a:t>
            </a:r>
            <a:endParaRPr lang="zh-CN" altLang="en-US" sz="15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78875B-9E15-9A8F-7779-91C9CBE85AC2}"/>
              </a:ext>
            </a:extLst>
          </p:cNvPr>
          <p:cNvSpPr txBox="1"/>
          <p:nvPr/>
        </p:nvSpPr>
        <p:spPr>
          <a:xfrm>
            <a:off x="9969500" y="2984500"/>
            <a:ext cx="12827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01E2D"/>
                </a:solidFill>
                <a:latin typeface="Arial" panose="020B0604020202020204" pitchFamily="34" charset="0"/>
              </a:rPr>
              <a:t>time / frozen priors</a:t>
            </a:r>
            <a:endParaRPr lang="zh-CN" altLang="en-US" sz="14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211A131-611F-5008-C4B8-0C0DB02CC162}"/>
              </a:ext>
            </a:extLst>
          </p:cNvPr>
          <p:cNvSpPr txBox="1"/>
          <p:nvPr/>
        </p:nvSpPr>
        <p:spPr>
          <a:xfrm>
            <a:off x="9969500" y="3873500"/>
            <a:ext cx="12827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100">
                <a:solidFill>
                  <a:srgbClr val="526476"/>
                </a:solidFill>
                <a:latin typeface="Arial" panose="020B0604020202020204" pitchFamily="34" charset="0"/>
              </a:rPr>
              <a:t>diagnostic negative</a:t>
            </a:r>
            <a:endParaRPr lang="zh-CN" altLang="en-US" sz="11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2A549A4-C30D-2DAD-9354-F1F1FCB6894F}"/>
              </a:ext>
            </a:extLst>
          </p:cNvPr>
          <p:cNvSpPr txBox="1"/>
          <p:nvPr/>
        </p:nvSpPr>
        <p:spPr>
          <a:xfrm>
            <a:off x="609600" y="5207000"/>
            <a:ext cx="10795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DA5353"/>
                </a:solidFill>
                <a:latin typeface="Arial" panose="020B0604020202020204" pitchFamily="34" charset="0"/>
              </a:rPr>
              <a:t>Version discipline: a terminal negative result retires the corresponding claim; it is not repaired by renaming or more epochs.</a:t>
            </a:r>
            <a:endParaRPr lang="zh-CN" altLang="en-US" sz="1600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650A638-6421-C61E-CB6A-7C7AC946093D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84F4AD6A-0E1E-9CF8-89D8-00E9A152E22B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Source: research-wiki/duca_model_version_registry.md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9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BC3E40-B100-567B-3194-68F2D83F2879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NEGATIVE RESULTS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62920F-595F-478E-3583-CCCBB55BB63E}"/>
              </a:ext>
            </a:extLst>
          </p:cNvPr>
          <p:cNvSpPr txBox="1"/>
          <p:nvPr/>
        </p:nvSpPr>
        <p:spPr>
          <a:xfrm>
            <a:off x="609600" y="609600"/>
            <a:ext cx="1054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What the retired versions taught us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70BA2B7-963B-3A40-7AAD-D51469E8A18C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0574E22-43EE-EAB9-1693-3BAAE8DDC70A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08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5085A3-3B28-A4B8-1B4A-F5E6B06DEBF8}"/>
              </a:ext>
            </a:extLst>
          </p:cNvPr>
          <p:cNvSpPr/>
          <p:nvPr/>
        </p:nvSpPr>
        <p:spPr>
          <a:xfrm>
            <a:off x="609600" y="1651000"/>
            <a:ext cx="10972800" cy="7112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C42899-3736-271B-172E-18F40BE73D4C}"/>
              </a:ext>
            </a:extLst>
          </p:cNvPr>
          <p:cNvSpPr txBox="1"/>
          <p:nvPr/>
        </p:nvSpPr>
        <p:spPr>
          <a:xfrm>
            <a:off x="838200" y="1828800"/>
            <a:ext cx="152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E97DA"/>
                </a:solidFill>
                <a:latin typeface="Arial" panose="020B0604020202020204" pitchFamily="34" charset="0"/>
              </a:rPr>
              <a:t>V2 CellCF</a:t>
            </a:r>
            <a:endParaRPr lang="zh-CN" altLang="en-US" sz="13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D90B03-B89C-1A67-F381-9684AC7AA7F4}"/>
              </a:ext>
            </a:extLst>
          </p:cNvPr>
          <p:cNvSpPr txBox="1"/>
          <p:nvPr/>
        </p:nvSpPr>
        <p:spPr>
          <a:xfrm>
            <a:off x="2603500" y="18288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101E2D"/>
                </a:solidFill>
                <a:latin typeface="Arial" panose="020B0604020202020204" pitchFamily="34" charset="0"/>
              </a:rPr>
              <a:t>Local-cell choice</a:t>
            </a:r>
            <a:endParaRPr lang="zh-CN" altLang="en-US" sz="13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60D62B-AA50-74CC-6154-35EA8E10839E}"/>
              </a:ext>
            </a:extLst>
          </p:cNvPr>
          <p:cNvSpPr txBox="1"/>
          <p:nvPr/>
        </p:nvSpPr>
        <p:spPr>
          <a:xfrm>
            <a:off x="5207000" y="1828800"/>
            <a:ext cx="2349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DA5353"/>
                </a:solidFill>
                <a:latin typeface="Arial" panose="020B0604020202020204" pitchFamily="34" charset="0"/>
              </a:rPr>
              <a:t>64.061 &lt; transition 64.276</a:t>
            </a:r>
            <a:endParaRPr lang="zh-CN" altLang="en-US" sz="1300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832334-029A-429E-6D9C-9F521120733E}"/>
              </a:ext>
            </a:extLst>
          </p:cNvPr>
          <p:cNvSpPr txBox="1"/>
          <p:nvPr/>
        </p:nvSpPr>
        <p:spPr>
          <a:xfrm>
            <a:off x="7810500" y="1828800"/>
            <a:ext cx="330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Local residual geometry did not win.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A4EECF-13C8-1D79-94B2-B9E736C5466A}"/>
              </a:ext>
            </a:extLst>
          </p:cNvPr>
          <p:cNvSpPr/>
          <p:nvPr/>
        </p:nvSpPr>
        <p:spPr>
          <a:xfrm>
            <a:off x="609600" y="2489200"/>
            <a:ext cx="109728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0B958C-6EC8-D773-0926-89B028BA6C84}"/>
              </a:ext>
            </a:extLst>
          </p:cNvPr>
          <p:cNvSpPr txBox="1"/>
          <p:nvPr/>
        </p:nvSpPr>
        <p:spPr>
          <a:xfrm>
            <a:off x="838200" y="2667000"/>
            <a:ext cx="152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E97DA"/>
                </a:solidFill>
                <a:latin typeface="Arial" panose="020B0604020202020204" pitchFamily="34" charset="0"/>
              </a:rPr>
              <a:t>V5 direct</a:t>
            </a:r>
            <a:endParaRPr lang="zh-CN" altLang="en-US" sz="13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602509-629F-F305-AFFE-0246B64E4DF8}"/>
              </a:ext>
            </a:extLst>
          </p:cNvPr>
          <p:cNvSpPr txBox="1"/>
          <p:nvPr/>
        </p:nvSpPr>
        <p:spPr>
          <a:xfrm>
            <a:off x="2603500" y="26670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101E2D"/>
                </a:solidFill>
                <a:latin typeface="Arial" panose="020B0604020202020204" pitchFamily="34" charset="0"/>
              </a:rPr>
              <a:t>Detector bridge</a:t>
            </a:r>
            <a:endParaRPr lang="zh-CN" altLang="en-US" sz="13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FFC940-53B7-1909-7849-FCF449C7CE91}"/>
              </a:ext>
            </a:extLst>
          </p:cNvPr>
          <p:cNvSpPr txBox="1"/>
          <p:nvPr/>
        </p:nvSpPr>
        <p:spPr>
          <a:xfrm>
            <a:off x="5207000" y="2667000"/>
            <a:ext cx="2349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DA5353"/>
                </a:solidFill>
                <a:latin typeface="Arial" panose="020B0604020202020204" pitchFamily="34" charset="0"/>
              </a:rPr>
              <a:t>63.710 &lt; uniform 64.458</a:t>
            </a:r>
            <a:endParaRPr lang="zh-CN" altLang="en-US" sz="1300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1C2669-1552-A330-E18E-060AF8145AB2}"/>
              </a:ext>
            </a:extLst>
          </p:cNvPr>
          <p:cNvSpPr txBox="1"/>
          <p:nvPr/>
        </p:nvSpPr>
        <p:spPr>
          <a:xfrm>
            <a:off x="7810500" y="2667000"/>
            <a:ext cx="330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Gradient route did not rescue allocation.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CDEA9D-51EC-CC72-A04C-D3361CDC8B3E}"/>
              </a:ext>
            </a:extLst>
          </p:cNvPr>
          <p:cNvSpPr/>
          <p:nvPr/>
        </p:nvSpPr>
        <p:spPr>
          <a:xfrm>
            <a:off x="609600" y="3327400"/>
            <a:ext cx="10972800" cy="7112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BE41D91-3E57-2EA6-3658-4489EA4A643B}"/>
              </a:ext>
            </a:extLst>
          </p:cNvPr>
          <p:cNvSpPr txBox="1"/>
          <p:nvPr/>
        </p:nvSpPr>
        <p:spPr>
          <a:xfrm>
            <a:off x="838200" y="3505200"/>
            <a:ext cx="152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E97DA"/>
                </a:solidFill>
                <a:latin typeface="Arial" panose="020B0604020202020204" pitchFamily="34" charset="0"/>
              </a:rPr>
              <a:t>V8 P0</a:t>
            </a:r>
            <a:endParaRPr lang="zh-CN" altLang="en-US" sz="13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9FB33B2-B2F5-5757-8886-083F3D6E9FA2}"/>
              </a:ext>
            </a:extLst>
          </p:cNvPr>
          <p:cNvSpPr txBox="1"/>
          <p:nvPr/>
        </p:nvSpPr>
        <p:spPr>
          <a:xfrm>
            <a:off x="2603500" y="3505200"/>
            <a:ext cx="2286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101E2D"/>
                </a:solidFill>
                <a:latin typeface="Arial" panose="020B0604020202020204" pitchFamily="34" charset="0"/>
              </a:rPr>
              <a:t>Coarse-to-selector mechanism</a:t>
            </a:r>
            <a:endParaRPr lang="zh-CN" altLang="en-US" sz="13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FE100E1-40CC-D8D9-3BA8-D0729989AF32}"/>
              </a:ext>
            </a:extLst>
          </p:cNvPr>
          <p:cNvSpPr txBox="1"/>
          <p:nvPr/>
        </p:nvSpPr>
        <p:spPr>
          <a:xfrm>
            <a:off x="5207000" y="3505200"/>
            <a:ext cx="2349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de-DE" altLang="zh-CN" sz="1300" b="1">
                <a:solidFill>
                  <a:srgbClr val="DA5353"/>
                </a:solidFill>
                <a:latin typeface="Arial" panose="020B0604020202020204" pitchFamily="34" charset="0"/>
              </a:rPr>
              <a:t>winner=null; AUROC max 0.619653</a:t>
            </a:r>
            <a:endParaRPr lang="zh-CN" altLang="en-US" sz="1300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0D1F67-B115-03E7-2D0A-57B6E8444D19}"/>
              </a:ext>
            </a:extLst>
          </p:cNvPr>
          <p:cNvSpPr txBox="1"/>
          <p:nvPr/>
        </p:nvSpPr>
        <p:spPr>
          <a:xfrm>
            <a:off x="7810500" y="3505200"/>
            <a:ext cx="330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Evidence did not beat simple delta.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142A1F-03C1-472A-3DBA-DE4D27AC4A73}"/>
              </a:ext>
            </a:extLst>
          </p:cNvPr>
          <p:cNvSpPr/>
          <p:nvPr/>
        </p:nvSpPr>
        <p:spPr>
          <a:xfrm>
            <a:off x="609600" y="4165600"/>
            <a:ext cx="109728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61108C-D825-7B52-13C9-4783B5CF5B78}"/>
              </a:ext>
            </a:extLst>
          </p:cNvPr>
          <p:cNvSpPr txBox="1"/>
          <p:nvPr/>
        </p:nvSpPr>
        <p:spPr>
          <a:xfrm>
            <a:off x="838200" y="4343400"/>
            <a:ext cx="152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E97DA"/>
                </a:solidFill>
                <a:latin typeface="Arial" panose="020B0604020202020204" pitchFamily="34" charset="0"/>
              </a:rPr>
              <a:t>Fast-only</a:t>
            </a:r>
            <a:endParaRPr lang="zh-CN" altLang="en-US" sz="13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2B98B0-7911-2D91-160A-0CA39C3AE114}"/>
              </a:ext>
            </a:extLst>
          </p:cNvPr>
          <p:cNvSpPr txBox="1"/>
          <p:nvPr/>
        </p:nvSpPr>
        <p:spPr>
          <a:xfrm>
            <a:off x="2603500" y="43434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101E2D"/>
                </a:solidFill>
                <a:latin typeface="Arial" panose="020B0604020202020204" pitchFamily="34" charset="0"/>
              </a:rPr>
              <a:t>Frozen motion prior</a:t>
            </a:r>
            <a:endParaRPr lang="zh-CN" altLang="en-US" sz="13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676CCA1-6A17-5D05-66B1-A3B8A5E3F966}"/>
              </a:ext>
            </a:extLst>
          </p:cNvPr>
          <p:cNvSpPr txBox="1"/>
          <p:nvPr/>
        </p:nvSpPr>
        <p:spPr>
          <a:xfrm>
            <a:off x="5207000" y="4343400"/>
            <a:ext cx="2349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DA5353"/>
                </a:solidFill>
                <a:latin typeface="Arial" panose="020B0604020202020204" pitchFamily="34" charset="0"/>
              </a:rPr>
              <a:t>63.530 vs uniform 64.490</a:t>
            </a:r>
            <a:endParaRPr lang="zh-CN" altLang="en-US" sz="1300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2E87611-EFC6-1261-DDC5-10D7E1AD4C85}"/>
              </a:ext>
            </a:extLst>
          </p:cNvPr>
          <p:cNvSpPr txBox="1"/>
          <p:nvPr/>
        </p:nvSpPr>
        <p:spPr>
          <a:xfrm>
            <a:off x="7810500" y="4343400"/>
            <a:ext cx="330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High-IoU loss; not a main route.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254C76-B649-C7B7-E3D8-5E4AE9A44B39}"/>
              </a:ext>
            </a:extLst>
          </p:cNvPr>
          <p:cNvSpPr/>
          <p:nvPr/>
        </p:nvSpPr>
        <p:spPr>
          <a:xfrm>
            <a:off x="609600" y="5003800"/>
            <a:ext cx="10972800" cy="7112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CDD7E9A-A133-6948-23E9-F8796C9B55B3}"/>
              </a:ext>
            </a:extLst>
          </p:cNvPr>
          <p:cNvSpPr txBox="1"/>
          <p:nvPr/>
        </p:nvSpPr>
        <p:spPr>
          <a:xfrm>
            <a:off x="838200" y="5181600"/>
            <a:ext cx="152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E97DA"/>
                </a:solidFill>
                <a:latin typeface="Arial" panose="020B0604020202020204" pitchFamily="34" charset="0"/>
              </a:rPr>
              <a:t>T1 actual</a:t>
            </a:r>
            <a:endParaRPr lang="zh-CN" altLang="en-US" sz="13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79CE23A-E73C-F9BE-992A-DFED1F86AA5E}"/>
              </a:ext>
            </a:extLst>
          </p:cNvPr>
          <p:cNvSpPr txBox="1"/>
          <p:nvPr/>
        </p:nvSpPr>
        <p:spPr>
          <a:xfrm>
            <a:off x="2603500" y="51816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101E2D"/>
                </a:solidFill>
                <a:latin typeface="Arial" panose="020B0604020202020204" pitchFamily="34" charset="0"/>
              </a:rPr>
              <a:t>True-time residual</a:t>
            </a:r>
            <a:endParaRPr lang="zh-CN" altLang="en-US" sz="13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B70BFFF-CB46-9537-FDED-BB952E301F49}"/>
              </a:ext>
            </a:extLst>
          </p:cNvPr>
          <p:cNvSpPr txBox="1"/>
          <p:nvPr/>
        </p:nvSpPr>
        <p:spPr>
          <a:xfrm>
            <a:off x="5207000" y="5181600"/>
            <a:ext cx="2349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DA5353"/>
                </a:solidFill>
                <a:latin typeface="Arial" panose="020B0604020202020204" pitchFamily="34" charset="0"/>
              </a:rPr>
              <a:t>64.020 vs uniform 64.490</a:t>
            </a:r>
            <a:endParaRPr lang="zh-CN" altLang="en-US" sz="1300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C037142-798E-DA06-6891-E0F661FA039C}"/>
              </a:ext>
            </a:extLst>
          </p:cNvPr>
          <p:cNvSpPr txBox="1"/>
          <p:nvPr/>
        </p:nvSpPr>
        <p:spPr>
          <a:xfrm>
            <a:off x="7810500" y="5181600"/>
            <a:ext cx="330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No positive support yet.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BE4EE08-02D0-E74E-2DB9-1193F6D4528F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B86AC2E-8E8C-86E1-9AA2-F285D8BB2D51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These are evidence-bearing negative findings, not failed engineering noise.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634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CF808FD-E8D5-BA29-6740-4C9551D2923E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OFFICIAL RESULTS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8ED81A-05A1-1C4F-B065-D67EABF1365F}"/>
              </a:ext>
            </a:extLst>
          </p:cNvPr>
          <p:cNvSpPr txBox="1"/>
          <p:nvPr/>
        </p:nvSpPr>
        <p:spPr>
          <a:xfrm>
            <a:off x="609600" y="609600"/>
            <a:ext cx="10541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Current comparable terminal evidence: uniform remains the reference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BD47020-8B41-E473-0799-1738C4248C0E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4208BA1-2502-77DC-5D9B-1C1FFE5D2442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09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2A0E577-5124-37EA-CCB1-BDC98E9E1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650763"/>
              </p:ext>
            </p:extLst>
          </p:nvPr>
        </p:nvGraphicFramePr>
        <p:xfrm>
          <a:off x="609600" y="1841500"/>
          <a:ext cx="109728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4398439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46977759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20630251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895258057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4174695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7212947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86781890"/>
                    </a:ext>
                  </a:extLst>
                </a:gridCol>
              </a:tblGrid>
              <a:tr h="6807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Method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Avg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@0.3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@0.4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@0.5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@0.6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@0.7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682685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Exact-uniform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64.49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79.59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75.42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67.71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57.27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42.45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582468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Fast-only R2Q3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63.53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79.91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74.52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66.37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54.75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42.09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059554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T1 actual-time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64.02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79.15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74.44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67.16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56.94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42.41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232337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MobileNet fusion</a:t>
                      </a:r>
                      <a:endParaRPr lang="zh-CN" altLang="en-US" sz="1100" b="1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64.33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-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-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-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-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>
                          <a:solidFill>
                            <a:srgbClr val="101E2D"/>
                          </a:solidFill>
                          <a:latin typeface="Arial" panose="020B0604020202020204" pitchFamily="34" charset="0"/>
                        </a:rPr>
                        <a:t>42.73</a:t>
                      </a:r>
                      <a:endParaRPr lang="zh-CN" altLang="en-US" sz="1100" b="0">
                        <a:solidFill>
                          <a:srgbClr val="101E2D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59514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A5C6D8C-9C1E-2E5B-FB76-4A43B3C0D66F}"/>
              </a:ext>
            </a:extLst>
          </p:cNvPr>
          <p:cNvSpPr/>
          <p:nvPr/>
        </p:nvSpPr>
        <p:spPr>
          <a:xfrm>
            <a:off x="609600" y="5562600"/>
            <a:ext cx="10972800" cy="660400"/>
          </a:xfrm>
          <a:prstGeom prst="rect">
            <a:avLst/>
          </a:prstGeom>
          <a:solidFill>
            <a:srgbClr val="FFF4F4"/>
          </a:solidFill>
          <a:ln>
            <a:solidFill>
              <a:srgbClr val="EFAE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689F94-C615-DFF7-CCB5-40B1DB913CA7}"/>
              </a:ext>
            </a:extLst>
          </p:cNvPr>
          <p:cNvSpPr txBox="1"/>
          <p:nvPr/>
        </p:nvSpPr>
        <p:spPr>
          <a:xfrm>
            <a:off x="838200" y="5778500"/>
            <a:ext cx="1054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DA5353"/>
                </a:solidFill>
                <a:latin typeface="Arial" panose="020B0604020202020204" pitchFamily="34" charset="0"/>
              </a:rPr>
              <a:t>No candidate meets the primary GO condition: Avg-mAP &gt;= 65.00 and &gt;= +0.20 pp over matched uniform.</a:t>
            </a:r>
            <a:endParaRPr lang="zh-CN" altLang="en-US" sz="1500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B7B36FB-5BF8-9060-7037-F7E0C359D5C7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D827826-DA77-28D0-B9CC-31C2E273FC2F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THUMOS14 validation / OpenTAD official evaluator / terminal EMA / single seed diagnostic.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92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32429D-4530-C563-CD87-5357B632786C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HIGH-IoU INTERPRETATION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407288-63D0-0334-526B-3EFF09EC977F}"/>
              </a:ext>
            </a:extLst>
          </p:cNvPr>
          <p:cNvSpPr txBox="1"/>
          <p:nvPr/>
        </p:nvSpPr>
        <p:spPr>
          <a:xfrm>
            <a:off x="609600" y="609600"/>
            <a:ext cx="1054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The observed deficit is concentrated where localization is hardest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BB122FB-84AB-7D13-64C4-68C8C736F9DE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ACBBA06-A7A8-E45A-B479-695C756C118A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10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F788259-826D-9CB8-12D6-FD883A1D5F84}"/>
              </a:ext>
            </a:extLst>
          </p:cNvPr>
          <p:cNvCxnSpPr/>
          <p:nvPr/>
        </p:nvCxnSpPr>
        <p:spPr>
          <a:xfrm>
            <a:off x="1397000" y="3937000"/>
            <a:ext cx="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48F2FA9-58C2-C9DF-387D-99DF766D79FB}"/>
              </a:ext>
            </a:extLst>
          </p:cNvPr>
          <p:cNvSpPr/>
          <p:nvPr/>
        </p:nvSpPr>
        <p:spPr>
          <a:xfrm>
            <a:off x="1397000" y="3713061"/>
            <a:ext cx="787400" cy="223939"/>
          </a:xfrm>
          <a:prstGeom prst="rect">
            <a:avLst/>
          </a:prstGeom>
          <a:solidFill>
            <a:srgbClr val="469B78"/>
          </a:solidFill>
          <a:ln>
            <a:solidFill>
              <a:srgbClr val="469B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1BEE39-198A-BBFF-EDD9-92B236ECBA7F}"/>
              </a:ext>
            </a:extLst>
          </p:cNvPr>
          <p:cNvSpPr txBox="1"/>
          <p:nvPr/>
        </p:nvSpPr>
        <p:spPr>
          <a:xfrm>
            <a:off x="1270000" y="3408261"/>
            <a:ext cx="1066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101E2D"/>
                </a:solidFill>
                <a:latin typeface="Arial" panose="020B0604020202020204" pitchFamily="34" charset="0"/>
              </a:rPr>
              <a:t>0.32</a:t>
            </a:r>
            <a:endParaRPr lang="zh-CN" altLang="en-US" sz="12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76C759-553D-3B60-5F41-AAE3EB88814B}"/>
              </a:ext>
            </a:extLst>
          </p:cNvPr>
          <p:cNvSpPr txBox="1"/>
          <p:nvPr/>
        </p:nvSpPr>
        <p:spPr>
          <a:xfrm>
            <a:off x="1270000" y="4889500"/>
            <a:ext cx="1066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@0.3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183F0FD-FF37-6574-A498-0E4D596AF231}"/>
              </a:ext>
            </a:extLst>
          </p:cNvPr>
          <p:cNvCxnSpPr/>
          <p:nvPr/>
        </p:nvCxnSpPr>
        <p:spPr>
          <a:xfrm>
            <a:off x="3238500" y="3937000"/>
            <a:ext cx="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84F35F3-FA3F-4A5A-972D-C54582DB2552}"/>
              </a:ext>
            </a:extLst>
          </p:cNvPr>
          <p:cNvSpPr/>
          <p:nvPr/>
        </p:nvSpPr>
        <p:spPr>
          <a:xfrm>
            <a:off x="3238500" y="3937000"/>
            <a:ext cx="787400" cy="625786"/>
          </a:xfrm>
          <a:prstGeom prst="rect">
            <a:avLst/>
          </a:prstGeom>
          <a:solidFill>
            <a:srgbClr val="DA5353"/>
          </a:solidFill>
          <a:ln>
            <a:solidFill>
              <a:srgbClr val="DA53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D820B4-DEA8-547D-66EB-CF5AA25E020C}"/>
              </a:ext>
            </a:extLst>
          </p:cNvPr>
          <p:cNvSpPr txBox="1"/>
          <p:nvPr/>
        </p:nvSpPr>
        <p:spPr>
          <a:xfrm>
            <a:off x="3111500" y="4626286"/>
            <a:ext cx="1066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101E2D"/>
                </a:solidFill>
                <a:latin typeface="Arial" panose="020B0604020202020204" pitchFamily="34" charset="0"/>
              </a:rPr>
              <a:t>-0.90</a:t>
            </a:r>
            <a:endParaRPr lang="zh-CN" altLang="en-US" sz="12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6E289-ABC8-8E24-2899-E11B2976C10A}"/>
              </a:ext>
            </a:extLst>
          </p:cNvPr>
          <p:cNvSpPr txBox="1"/>
          <p:nvPr/>
        </p:nvSpPr>
        <p:spPr>
          <a:xfrm>
            <a:off x="3111500" y="4889500"/>
            <a:ext cx="1066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@0.4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259456-8437-7685-AA6F-EB72FD47A83A}"/>
              </a:ext>
            </a:extLst>
          </p:cNvPr>
          <p:cNvCxnSpPr/>
          <p:nvPr/>
        </p:nvCxnSpPr>
        <p:spPr>
          <a:xfrm>
            <a:off x="5080000" y="3937000"/>
            <a:ext cx="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9CC6D7F-D73F-4C8A-0EF7-5217BEC2A4F2}"/>
              </a:ext>
            </a:extLst>
          </p:cNvPr>
          <p:cNvSpPr/>
          <p:nvPr/>
        </p:nvSpPr>
        <p:spPr>
          <a:xfrm>
            <a:off x="5080000" y="3937000"/>
            <a:ext cx="787400" cy="938435"/>
          </a:xfrm>
          <a:prstGeom prst="rect">
            <a:avLst/>
          </a:prstGeom>
          <a:solidFill>
            <a:srgbClr val="DA5353"/>
          </a:solidFill>
          <a:ln>
            <a:solidFill>
              <a:srgbClr val="DA53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F34DAD-C613-71BB-E81D-604A4DE61CF7}"/>
              </a:ext>
            </a:extLst>
          </p:cNvPr>
          <p:cNvSpPr txBox="1"/>
          <p:nvPr/>
        </p:nvSpPr>
        <p:spPr>
          <a:xfrm>
            <a:off x="4953000" y="4938935"/>
            <a:ext cx="1066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101E2D"/>
                </a:solidFill>
                <a:latin typeface="Arial" panose="020B0604020202020204" pitchFamily="34" charset="0"/>
              </a:rPr>
              <a:t>-1.34</a:t>
            </a:r>
            <a:endParaRPr lang="zh-CN" altLang="en-US" sz="12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260FA-E1BC-7922-2ED3-02858BF74B14}"/>
              </a:ext>
            </a:extLst>
          </p:cNvPr>
          <p:cNvSpPr txBox="1"/>
          <p:nvPr/>
        </p:nvSpPr>
        <p:spPr>
          <a:xfrm>
            <a:off x="4953000" y="4889500"/>
            <a:ext cx="1066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@0.5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7091E37-408D-29FD-9CF9-BB1C9926A631}"/>
              </a:ext>
            </a:extLst>
          </p:cNvPr>
          <p:cNvCxnSpPr/>
          <p:nvPr/>
        </p:nvCxnSpPr>
        <p:spPr>
          <a:xfrm>
            <a:off x="6921500" y="3937000"/>
            <a:ext cx="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F901E11-E5CE-CA9E-BC9B-1F484D3EFAC6}"/>
              </a:ext>
            </a:extLst>
          </p:cNvPr>
          <p:cNvSpPr/>
          <p:nvPr/>
        </p:nvSpPr>
        <p:spPr>
          <a:xfrm>
            <a:off x="6921500" y="3937000"/>
            <a:ext cx="787400" cy="1757775"/>
          </a:xfrm>
          <a:prstGeom prst="rect">
            <a:avLst/>
          </a:prstGeom>
          <a:solidFill>
            <a:srgbClr val="DA5353"/>
          </a:solidFill>
          <a:ln>
            <a:solidFill>
              <a:srgbClr val="DA53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9C3709-6800-7684-14D2-9B32B01371B8}"/>
              </a:ext>
            </a:extLst>
          </p:cNvPr>
          <p:cNvSpPr txBox="1"/>
          <p:nvPr/>
        </p:nvSpPr>
        <p:spPr>
          <a:xfrm>
            <a:off x="6794500" y="5758275"/>
            <a:ext cx="1066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101E2D"/>
                </a:solidFill>
                <a:latin typeface="Arial" panose="020B0604020202020204" pitchFamily="34" charset="0"/>
              </a:rPr>
              <a:t>-2.52</a:t>
            </a:r>
            <a:endParaRPr lang="zh-CN" altLang="en-US" sz="12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2A4E0B-D68C-5082-037A-A9F8999CCC18}"/>
              </a:ext>
            </a:extLst>
          </p:cNvPr>
          <p:cNvSpPr txBox="1"/>
          <p:nvPr/>
        </p:nvSpPr>
        <p:spPr>
          <a:xfrm>
            <a:off x="6794500" y="4889500"/>
            <a:ext cx="1066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@0.6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BAC50E1-A4C8-03B6-EEDF-2F76E852F54D}"/>
              </a:ext>
            </a:extLst>
          </p:cNvPr>
          <p:cNvCxnSpPr/>
          <p:nvPr/>
        </p:nvCxnSpPr>
        <p:spPr>
          <a:xfrm>
            <a:off x="8763000" y="3937000"/>
            <a:ext cx="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98F0577-24D8-1523-F286-8460D57FF795}"/>
              </a:ext>
            </a:extLst>
          </p:cNvPr>
          <p:cNvSpPr/>
          <p:nvPr/>
        </p:nvSpPr>
        <p:spPr>
          <a:xfrm>
            <a:off x="8763000" y="3937000"/>
            <a:ext cx="787400" cy="248876"/>
          </a:xfrm>
          <a:prstGeom prst="rect">
            <a:avLst/>
          </a:prstGeom>
          <a:solidFill>
            <a:srgbClr val="DA5353"/>
          </a:solidFill>
          <a:ln>
            <a:solidFill>
              <a:srgbClr val="DA53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85BC8FB-E1E3-B9BA-3044-6B77BB91D62A}"/>
              </a:ext>
            </a:extLst>
          </p:cNvPr>
          <p:cNvSpPr txBox="1"/>
          <p:nvPr/>
        </p:nvSpPr>
        <p:spPr>
          <a:xfrm>
            <a:off x="8636000" y="4249376"/>
            <a:ext cx="1066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101E2D"/>
                </a:solidFill>
                <a:latin typeface="Arial" panose="020B0604020202020204" pitchFamily="34" charset="0"/>
              </a:rPr>
              <a:t>-0.36</a:t>
            </a:r>
            <a:endParaRPr lang="zh-CN" altLang="en-US" sz="12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61513CE-7BDA-9943-F469-6570831CA061}"/>
              </a:ext>
            </a:extLst>
          </p:cNvPr>
          <p:cNvSpPr txBox="1"/>
          <p:nvPr/>
        </p:nvSpPr>
        <p:spPr>
          <a:xfrm>
            <a:off x="8636000" y="4889500"/>
            <a:ext cx="10668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@0.7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22D4214-F216-D878-F346-51DD2DE97880}"/>
              </a:ext>
            </a:extLst>
          </p:cNvPr>
          <p:cNvCxnSpPr/>
          <p:nvPr/>
        </p:nvCxnSpPr>
        <p:spPr>
          <a:xfrm>
            <a:off x="889000" y="3937000"/>
            <a:ext cx="9652000" cy="0"/>
          </a:xfrm>
          <a:prstGeom prst="line">
            <a:avLst/>
          </a:prstGeom>
          <a:ln>
            <a:solidFill>
              <a:srgbClr val="10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A2527C1-62B3-F01F-7C27-594F21DC558C}"/>
              </a:ext>
            </a:extLst>
          </p:cNvPr>
          <p:cNvSpPr txBox="1"/>
          <p:nvPr/>
        </p:nvSpPr>
        <p:spPr>
          <a:xfrm>
            <a:off x="889000" y="1968500"/>
            <a:ext cx="406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526476"/>
                </a:solidFill>
                <a:latin typeface="Arial" panose="020B0604020202020204" pitchFamily="34" charset="0"/>
              </a:rPr>
              <a:t>Fast-only minus matched uniform (pp)</a:t>
            </a:r>
            <a:endParaRPr lang="zh-CN" altLang="en-US" sz="16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B5A3BD9-9199-3F9A-344C-F08CA6E08A7B}"/>
              </a:ext>
            </a:extLst>
          </p:cNvPr>
          <p:cNvSpPr txBox="1"/>
          <p:nvPr/>
        </p:nvSpPr>
        <p:spPr>
          <a:xfrm>
            <a:off x="889000" y="5588000"/>
            <a:ext cx="9906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DA5353"/>
                </a:solidFill>
                <a:latin typeface="Arial" panose="020B0604020202020204" pitchFamily="34" charset="0"/>
              </a:rPr>
              <a:t>Only tIoU=0.3 is slightly positive; the largest degradation is at tIoU=0.6.</a:t>
            </a:r>
            <a:endParaRPr lang="zh-CN" altLang="en-US" sz="1700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A882EC1-79ED-250E-45B7-681E6C666A2E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4076103-3907-AB42-F4CC-08D93DA10CB9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This is a diagnostic comparison, not a multi-seed publication claim.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63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436FBB-8036-0E2D-F0FC-96927BDA61DD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TRAINING-ARM RESULT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5C2798-CA00-B97C-2FC6-8CEE05F3D56E}"/>
              </a:ext>
            </a:extLst>
          </p:cNvPr>
          <p:cNvSpPr txBox="1"/>
          <p:nvPr/>
        </p:nvSpPr>
        <p:spPr>
          <a:xfrm>
            <a:off x="609600" y="609600"/>
            <a:ext cx="1054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Historical V5 contract: all learned arms finished below uniform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EFDA5D9-3D22-2486-DD46-E82D8DC9C426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15BB450-B460-C293-D04F-4971E405E668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11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4A19F-8169-3378-FBA5-249629DB1088}"/>
              </a:ext>
            </a:extLst>
          </p:cNvPr>
          <p:cNvSpPr/>
          <p:nvPr/>
        </p:nvSpPr>
        <p:spPr>
          <a:xfrm>
            <a:off x="1587500" y="2426589"/>
            <a:ext cx="889000" cy="2653411"/>
          </a:xfrm>
          <a:prstGeom prst="rect">
            <a:avLst/>
          </a:prstGeom>
          <a:solidFill>
            <a:srgbClr val="2E97DA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8D5388-75AA-3595-4199-47D4243C59B7}"/>
              </a:ext>
            </a:extLst>
          </p:cNvPr>
          <p:cNvSpPr txBox="1"/>
          <p:nvPr/>
        </p:nvSpPr>
        <p:spPr>
          <a:xfrm>
            <a:off x="1397000" y="2109089"/>
            <a:ext cx="127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01E2D"/>
                </a:solidFill>
                <a:latin typeface="Arial" panose="020B0604020202020204" pitchFamily="34" charset="0"/>
              </a:rPr>
              <a:t>64.458</a:t>
            </a:r>
            <a:endParaRPr lang="zh-CN" altLang="en-US" sz="13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CED873-0892-E0FD-8308-04274F3427CB}"/>
              </a:ext>
            </a:extLst>
          </p:cNvPr>
          <p:cNvSpPr txBox="1"/>
          <p:nvPr/>
        </p:nvSpPr>
        <p:spPr>
          <a:xfrm>
            <a:off x="1358900" y="5257800"/>
            <a:ext cx="133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Uniform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D51034-A984-FF3E-EE02-A2983BE7DC39}"/>
              </a:ext>
            </a:extLst>
          </p:cNvPr>
          <p:cNvSpPr/>
          <p:nvPr/>
        </p:nvSpPr>
        <p:spPr>
          <a:xfrm>
            <a:off x="3556000" y="3234055"/>
            <a:ext cx="889000" cy="1845945"/>
          </a:xfrm>
          <a:prstGeom prst="rect">
            <a:avLst/>
          </a:prstGeom>
          <a:solidFill>
            <a:srgbClr val="EE8C3D"/>
          </a:solidFill>
          <a:ln>
            <a:solidFill>
              <a:srgbClr val="EE8C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9A8739-C484-7486-E9F2-B8D0D2077560}"/>
              </a:ext>
            </a:extLst>
          </p:cNvPr>
          <p:cNvSpPr txBox="1"/>
          <p:nvPr/>
        </p:nvSpPr>
        <p:spPr>
          <a:xfrm>
            <a:off x="3365500" y="2916555"/>
            <a:ext cx="127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01E2D"/>
                </a:solidFill>
                <a:latin typeface="Arial" panose="020B0604020202020204" pitchFamily="34" charset="0"/>
              </a:rPr>
              <a:t>63.710</a:t>
            </a:r>
            <a:endParaRPr lang="zh-CN" altLang="en-US" sz="13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66C80C-53FC-36E1-B9BC-655DA6622A54}"/>
              </a:ext>
            </a:extLst>
          </p:cNvPr>
          <p:cNvSpPr txBox="1"/>
          <p:nvPr/>
        </p:nvSpPr>
        <p:spPr>
          <a:xfrm>
            <a:off x="3327400" y="5257800"/>
            <a:ext cx="133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Direct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A7735A-55DE-1341-3FC1-7061FA5957E2}"/>
              </a:ext>
            </a:extLst>
          </p:cNvPr>
          <p:cNvSpPr/>
          <p:nvPr/>
        </p:nvSpPr>
        <p:spPr>
          <a:xfrm>
            <a:off x="5524500" y="3935730"/>
            <a:ext cx="889000" cy="1144270"/>
          </a:xfrm>
          <a:prstGeom prst="rect">
            <a:avLst/>
          </a:prstGeom>
          <a:solidFill>
            <a:srgbClr val="DA5353"/>
          </a:solidFill>
          <a:ln>
            <a:solidFill>
              <a:srgbClr val="DA53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5BA2F7-878C-E0B2-271E-EE25E46D7E69}"/>
              </a:ext>
            </a:extLst>
          </p:cNvPr>
          <p:cNvSpPr txBox="1"/>
          <p:nvPr/>
        </p:nvSpPr>
        <p:spPr>
          <a:xfrm>
            <a:off x="5334000" y="3618230"/>
            <a:ext cx="127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01E2D"/>
                </a:solidFill>
                <a:latin typeface="Arial" panose="020B0604020202020204" pitchFamily="34" charset="0"/>
              </a:rPr>
              <a:t>63.060</a:t>
            </a:r>
            <a:endParaRPr lang="zh-CN" altLang="en-US" sz="13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72CF16-BBD7-143C-EA90-13913DFF99FE}"/>
              </a:ext>
            </a:extLst>
          </p:cNvPr>
          <p:cNvSpPr txBox="1"/>
          <p:nvPr/>
        </p:nvSpPr>
        <p:spPr>
          <a:xfrm>
            <a:off x="5295900" y="5257800"/>
            <a:ext cx="133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Homotopy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1A61C9-9911-A1C0-19C6-66A10570F8F3}"/>
              </a:ext>
            </a:extLst>
          </p:cNvPr>
          <p:cNvSpPr/>
          <p:nvPr/>
        </p:nvSpPr>
        <p:spPr>
          <a:xfrm>
            <a:off x="7493000" y="3252407"/>
            <a:ext cx="889000" cy="1827593"/>
          </a:xfrm>
          <a:prstGeom prst="rect">
            <a:avLst/>
          </a:prstGeom>
          <a:solidFill>
            <a:srgbClr val="469B78"/>
          </a:solidFill>
          <a:ln>
            <a:solidFill>
              <a:srgbClr val="469B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9189B5-6F2A-D41A-E2DC-7D11AFF5867A}"/>
              </a:ext>
            </a:extLst>
          </p:cNvPr>
          <p:cNvSpPr txBox="1"/>
          <p:nvPr/>
        </p:nvSpPr>
        <p:spPr>
          <a:xfrm>
            <a:off x="7302500" y="2934907"/>
            <a:ext cx="127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01E2D"/>
                </a:solidFill>
                <a:latin typeface="Arial" panose="020B0604020202020204" pitchFamily="34" charset="0"/>
              </a:rPr>
              <a:t>63.693</a:t>
            </a:r>
            <a:endParaRPr lang="zh-CN" altLang="en-US" sz="13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003E49-478C-8FED-9F5D-16E6FB8CC246}"/>
              </a:ext>
            </a:extLst>
          </p:cNvPr>
          <p:cNvSpPr txBox="1"/>
          <p:nvPr/>
        </p:nvSpPr>
        <p:spPr>
          <a:xfrm>
            <a:off x="7264400" y="5257800"/>
            <a:ext cx="133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Companion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68A61F7-F4D8-7ED0-DAFC-50717423D0B0}"/>
              </a:ext>
            </a:extLst>
          </p:cNvPr>
          <p:cNvCxnSpPr/>
          <p:nvPr/>
        </p:nvCxnSpPr>
        <p:spPr>
          <a:xfrm>
            <a:off x="1143000" y="5080000"/>
            <a:ext cx="85090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6ADA29EB-F1F6-C1FF-3ACA-147448C352A6}"/>
              </a:ext>
            </a:extLst>
          </p:cNvPr>
          <p:cNvSpPr/>
          <p:nvPr/>
        </p:nvSpPr>
        <p:spPr>
          <a:xfrm>
            <a:off x="9334500" y="2222500"/>
            <a:ext cx="2247900" cy="2286000"/>
          </a:xfrm>
          <a:prstGeom prst="rect">
            <a:avLst/>
          </a:prstGeom>
          <a:solidFill>
            <a:srgbClr val="FFF7EF"/>
          </a:solidFill>
          <a:ln>
            <a:solidFill>
              <a:srgbClr val="F7C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7B272D-72C1-8974-65E5-AF25FD6A7A3E}"/>
              </a:ext>
            </a:extLst>
          </p:cNvPr>
          <p:cNvSpPr txBox="1"/>
          <p:nvPr/>
        </p:nvSpPr>
        <p:spPr>
          <a:xfrm>
            <a:off x="9563100" y="2514600"/>
            <a:ext cx="177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01E2D"/>
                </a:solidFill>
                <a:latin typeface="Arial" panose="020B0604020202020204" pitchFamily="34" charset="0"/>
              </a:rPr>
              <a:t>Interpretation</a:t>
            </a:r>
            <a:endParaRPr lang="zh-CN" altLang="en-US" sz="1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AE361E-3E5C-0EDB-ECF6-99472C6A937B}"/>
              </a:ext>
            </a:extLst>
          </p:cNvPr>
          <p:cNvSpPr txBox="1"/>
          <p:nvPr/>
        </p:nvSpPr>
        <p:spPr>
          <a:xfrm>
            <a:off x="9563100" y="3073400"/>
            <a:ext cx="1714500" cy="120032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526476"/>
                </a:solidFill>
                <a:latin typeface="Arial" panose="020B0604020202020204" pitchFamily="34" charset="0"/>
              </a:rPr>
              <a:t>The companion recovered some loss, but no learned route exceeded uniform. These arms are sealed negative evidence.</a:t>
            </a:r>
            <a:endParaRPr lang="zh-CN" altLang="en-US" sz="13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0C0D11B-F7DC-048C-91A2-317A116F0268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37D1AB08-26E9-6543-53DE-42E8B9914C26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V5 epoch-59 EMA; source: duca-global-curriculum-official60.md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06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6D5045-D8EC-279E-AC70-5BC6C443BBB3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EVIDENCE LADDER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4EE00A-ED02-B251-C462-750C8B890FAE}"/>
              </a:ext>
            </a:extLst>
          </p:cNvPr>
          <p:cNvSpPr txBox="1"/>
          <p:nvPr/>
        </p:nvSpPr>
        <p:spPr>
          <a:xfrm>
            <a:off x="609600" y="609600"/>
            <a:ext cx="10541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Do not mix reachability, mechanism quality, and paper performance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B08F2AF-7DEC-44F2-9674-58CEC3AEBB6C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BE97496-2A70-D417-3F7F-CE160E9A089B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12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5030FA-E7DE-B97E-D370-81FC8745045F}"/>
              </a:ext>
            </a:extLst>
          </p:cNvPr>
          <p:cNvSpPr/>
          <p:nvPr/>
        </p:nvSpPr>
        <p:spPr>
          <a:xfrm>
            <a:off x="609600" y="2032000"/>
            <a:ext cx="3175000" cy="2603500"/>
          </a:xfrm>
          <a:prstGeom prst="rect">
            <a:avLst/>
          </a:prstGeom>
          <a:solidFill>
            <a:srgbClr val="E6F4FD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F86CE7-6C65-C647-AC12-2F4DA6EDB6A2}"/>
              </a:ext>
            </a:extLst>
          </p:cNvPr>
          <p:cNvSpPr txBox="1"/>
          <p:nvPr/>
        </p:nvSpPr>
        <p:spPr>
          <a:xfrm>
            <a:off x="838200" y="2413000"/>
            <a:ext cx="2667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101E2D"/>
                </a:solidFill>
                <a:latin typeface="Arial" panose="020B0604020202020204" pitchFamily="34" charset="0"/>
              </a:rPr>
              <a:t>Official terminal mAP</a:t>
            </a:r>
            <a:endParaRPr lang="zh-CN" altLang="en-US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29DB7E-B240-BCB0-E6ED-947B84F9E00A}"/>
              </a:ext>
            </a:extLst>
          </p:cNvPr>
          <p:cNvSpPr txBox="1"/>
          <p:nvPr/>
        </p:nvSpPr>
        <p:spPr>
          <a:xfrm>
            <a:off x="838200" y="3073400"/>
            <a:ext cx="2603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2E97DA"/>
                </a:solidFill>
                <a:latin typeface="Arial" panose="020B0604020202020204" pitchFamily="34" charset="0"/>
              </a:rPr>
              <a:t>Can support result claims</a:t>
            </a:r>
            <a:endParaRPr lang="zh-CN" altLang="en-US" sz="14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DD9BE7-8913-C625-ED92-3E8BEEFB9ECA}"/>
              </a:ext>
            </a:extLst>
          </p:cNvPr>
          <p:cNvSpPr txBox="1"/>
          <p:nvPr/>
        </p:nvSpPr>
        <p:spPr>
          <a:xfrm>
            <a:off x="838200" y="3708400"/>
            <a:ext cx="2603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26476"/>
                </a:solidFill>
                <a:latin typeface="Arial" panose="020B0604020202020204" pitchFamily="34" charset="0"/>
              </a:rPr>
              <a:t>same protocol / full validation</a:t>
            </a:r>
            <a:endParaRPr lang="zh-CN" altLang="en-US" sz="14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25142D-77A2-9F8D-A550-B3455B8465C4}"/>
              </a:ext>
            </a:extLst>
          </p:cNvPr>
          <p:cNvSpPr/>
          <p:nvPr/>
        </p:nvSpPr>
        <p:spPr>
          <a:xfrm>
            <a:off x="4279900" y="2032000"/>
            <a:ext cx="3175000" cy="2603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03FDD1-3C7C-C920-5737-0B7D72DA59B2}"/>
              </a:ext>
            </a:extLst>
          </p:cNvPr>
          <p:cNvSpPr txBox="1"/>
          <p:nvPr/>
        </p:nvSpPr>
        <p:spPr>
          <a:xfrm>
            <a:off x="4508500" y="2413000"/>
            <a:ext cx="2667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101E2D"/>
                </a:solidFill>
                <a:latin typeface="Arial" panose="020B0604020202020204" pitchFamily="34" charset="0"/>
              </a:rPr>
              <a:t>Mechanism diagnostics</a:t>
            </a:r>
            <a:endParaRPr lang="zh-CN" altLang="en-US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A57871-3F3A-327B-8096-E29EDAB28D7E}"/>
              </a:ext>
            </a:extLst>
          </p:cNvPr>
          <p:cNvSpPr txBox="1"/>
          <p:nvPr/>
        </p:nvSpPr>
        <p:spPr>
          <a:xfrm>
            <a:off x="4508500" y="3073400"/>
            <a:ext cx="2603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EE8C3D"/>
                </a:solidFill>
                <a:latin typeface="Arial" panose="020B0604020202020204" pitchFamily="34" charset="0"/>
              </a:rPr>
              <a:t>Can explain a result</a:t>
            </a:r>
            <a:endParaRPr lang="zh-CN" altLang="en-US" sz="1400" b="1">
              <a:solidFill>
                <a:srgbClr val="EE8C3D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F21A86-250D-7BC1-EB19-C07EEEF6AECD}"/>
              </a:ext>
            </a:extLst>
          </p:cNvPr>
          <p:cNvSpPr txBox="1"/>
          <p:nvPr/>
        </p:nvSpPr>
        <p:spPr>
          <a:xfrm>
            <a:off x="4508500" y="3708400"/>
            <a:ext cx="2603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26476"/>
                </a:solidFill>
                <a:latin typeface="Arial" panose="020B0604020202020204" pitchFamily="34" charset="0"/>
              </a:rPr>
              <a:t>AUROC / endpoint distance / selection</a:t>
            </a:r>
            <a:endParaRPr lang="zh-CN" altLang="en-US" sz="14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3E8364-6C86-FF47-2964-CABFA0BB826C}"/>
              </a:ext>
            </a:extLst>
          </p:cNvPr>
          <p:cNvSpPr/>
          <p:nvPr/>
        </p:nvSpPr>
        <p:spPr>
          <a:xfrm>
            <a:off x="7950200" y="2032000"/>
            <a:ext cx="3175000" cy="26035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04D0ED-3A6C-FBB6-318D-D2A3D8C6F7E2}"/>
              </a:ext>
            </a:extLst>
          </p:cNvPr>
          <p:cNvSpPr txBox="1"/>
          <p:nvPr/>
        </p:nvSpPr>
        <p:spPr>
          <a:xfrm>
            <a:off x="8178800" y="2413000"/>
            <a:ext cx="2667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101E2D"/>
                </a:solidFill>
                <a:latin typeface="Arial" panose="020B0604020202020204" pitchFamily="34" charset="0"/>
              </a:rPr>
              <a:t>Internal Oracle</a:t>
            </a:r>
            <a:endParaRPr lang="zh-CN" altLang="en-US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EC81C4-A605-E13C-68C8-C38A882998E8}"/>
              </a:ext>
            </a:extLst>
          </p:cNvPr>
          <p:cNvSpPr txBox="1"/>
          <p:nvPr/>
        </p:nvSpPr>
        <p:spPr>
          <a:xfrm>
            <a:off x="8178800" y="3073400"/>
            <a:ext cx="2603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EE8C3D"/>
                </a:solidFill>
                <a:latin typeface="Arial" panose="020B0604020202020204" pitchFamily="34" charset="0"/>
              </a:rPr>
              <a:t>Can bound feasibility</a:t>
            </a:r>
            <a:endParaRPr lang="zh-CN" altLang="en-US" sz="1400" b="1">
              <a:solidFill>
                <a:srgbClr val="EE8C3D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DC4CD3-8434-1A6D-3B69-C5F9E9FFC832}"/>
              </a:ext>
            </a:extLst>
          </p:cNvPr>
          <p:cNvSpPr txBox="1"/>
          <p:nvPr/>
        </p:nvSpPr>
        <p:spPr>
          <a:xfrm>
            <a:off x="8178800" y="3708400"/>
            <a:ext cx="2603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526476"/>
                </a:solidFill>
                <a:latin typeface="Arial" panose="020B0604020202020204" pitchFamily="34" charset="0"/>
              </a:rPr>
              <a:t>not test accuracy; not deployable</a:t>
            </a:r>
            <a:endParaRPr lang="zh-CN" altLang="en-US" sz="14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A75D11-676A-2BE4-E06C-FF65FCE87296}"/>
              </a:ext>
            </a:extLst>
          </p:cNvPr>
          <p:cNvSpPr txBox="1"/>
          <p:nvPr/>
        </p:nvSpPr>
        <p:spPr>
          <a:xfrm>
            <a:off x="609600" y="5524500"/>
            <a:ext cx="1079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DA5353"/>
                </a:solidFill>
                <a:latin typeface="Arial" panose="020B0604020202020204" pitchFamily="34" charset="0"/>
              </a:rPr>
              <a:t>Rule: proxy gains cannot be promoted into a TAD accuracy or efficiency claim.</a:t>
            </a:r>
            <a:endParaRPr lang="zh-CN" altLang="en-US" b="1">
              <a:solidFill>
                <a:srgbClr val="DA5353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80010EF-4C28-C1DB-C933-D7BBC19FF74C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D544752-91CE-C0A5-EE43-AC660E28121A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Internal R0 93-94 mAP is deliberately excluded from the primary performance table.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736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FBEB4E-508F-B58B-6058-6BC7BE155DBE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CURRENT EVIDENCE DAG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275E61-FD85-135A-4F15-46FAAC53C521}"/>
              </a:ext>
            </a:extLst>
          </p:cNvPr>
          <p:cNvSpPr txBox="1"/>
          <p:nvPr/>
        </p:nvSpPr>
        <p:spPr>
          <a:xfrm>
            <a:off x="609600" y="609600"/>
            <a:ext cx="1054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01E2D"/>
                </a:solidFill>
                <a:latin typeface="Arial" panose="020B0604020202020204" pitchFamily="34" charset="0"/>
              </a:rPr>
              <a:t>The R0-R5 program translates into five scientific questions</a:t>
            </a:r>
            <a:endParaRPr lang="zh-CN" altLang="en-US" sz="26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389B7AD-B39D-07BC-DA35-9CF8ECAD423C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000A2F7-F472-156D-2E0A-ECD48B21D471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526476"/>
                </a:solidFill>
                <a:latin typeface="Arial" panose="020B0604020202020204" pitchFamily="34" charset="0"/>
              </a:rPr>
              <a:t>13</a:t>
            </a:r>
            <a:endParaRPr lang="zh-CN" altLang="en-US" sz="1100" b="1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B27040-5CDE-CF38-6BF4-149D7A10C965}"/>
              </a:ext>
            </a:extLst>
          </p:cNvPr>
          <p:cNvSpPr/>
          <p:nvPr/>
        </p:nvSpPr>
        <p:spPr>
          <a:xfrm>
            <a:off x="609600" y="2222500"/>
            <a:ext cx="1955800" cy="2286000"/>
          </a:xfrm>
          <a:prstGeom prst="rect">
            <a:avLst/>
          </a:prstGeom>
          <a:solidFill>
            <a:srgbClr val="F4F7FA"/>
          </a:solidFill>
          <a:ln>
            <a:solidFill>
              <a:srgbClr val="2E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57CD7E-D291-F122-4637-80C1B5046B9D}"/>
              </a:ext>
            </a:extLst>
          </p:cNvPr>
          <p:cNvSpPr txBox="1"/>
          <p:nvPr/>
        </p:nvSpPr>
        <p:spPr>
          <a:xfrm>
            <a:off x="800100" y="2476500"/>
            <a:ext cx="1574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2E97DA"/>
                </a:solidFill>
                <a:latin typeface="Arial" panose="020B0604020202020204" pitchFamily="34" charset="0"/>
              </a:rPr>
              <a:t>R0</a:t>
            </a:r>
            <a:endParaRPr lang="zh-CN" altLang="en-US" sz="14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C4BA08-1610-9EDC-E050-5527AE08EE05}"/>
              </a:ext>
            </a:extLst>
          </p:cNvPr>
          <p:cNvSpPr txBox="1"/>
          <p:nvPr/>
        </p:nvSpPr>
        <p:spPr>
          <a:xfrm>
            <a:off x="762000" y="2984500"/>
            <a:ext cx="165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Reachability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A204F0-A466-9DCA-7EBD-727FE6612E97}"/>
              </a:ext>
            </a:extLst>
          </p:cNvPr>
          <p:cNvSpPr txBox="1"/>
          <p:nvPr/>
        </p:nvSpPr>
        <p:spPr>
          <a:xfrm>
            <a:off x="762000" y="3683000"/>
            <a:ext cx="1651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</a:rPr>
              <a:t>Does feasible boundary geometry have headroom?</a:t>
            </a:r>
            <a:endParaRPr lang="zh-CN" altLang="en-US" sz="12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F13755-8468-435B-E806-C64C11084AB6}"/>
              </a:ext>
            </a:extLst>
          </p:cNvPr>
          <p:cNvSpPr/>
          <p:nvPr/>
        </p:nvSpPr>
        <p:spPr>
          <a:xfrm>
            <a:off x="2819400" y="2222500"/>
            <a:ext cx="1955800" cy="2286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56D841-B89F-A9FB-ACAD-D002DB4457A7}"/>
              </a:ext>
            </a:extLst>
          </p:cNvPr>
          <p:cNvSpPr txBox="1"/>
          <p:nvPr/>
        </p:nvSpPr>
        <p:spPr>
          <a:xfrm>
            <a:off x="3009900" y="2476500"/>
            <a:ext cx="1574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2E97DA"/>
                </a:solidFill>
                <a:latin typeface="Arial" panose="020B0604020202020204" pitchFamily="34" charset="0"/>
              </a:rPr>
              <a:t>R2</a:t>
            </a:r>
            <a:endParaRPr lang="zh-CN" altLang="en-US" sz="14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6D589C-F5BA-D2EB-C9C0-B49E31829153}"/>
              </a:ext>
            </a:extLst>
          </p:cNvPr>
          <p:cNvSpPr txBox="1"/>
          <p:nvPr/>
        </p:nvSpPr>
        <p:spPr>
          <a:xfrm>
            <a:off x="2971800" y="2984500"/>
            <a:ext cx="165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Learnability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B48C52-46D9-C387-244D-49352D92FCA6}"/>
              </a:ext>
            </a:extLst>
          </p:cNvPr>
          <p:cNvSpPr txBox="1"/>
          <p:nvPr/>
        </p:nvSpPr>
        <p:spPr>
          <a:xfrm>
            <a:off x="2971800" y="3683000"/>
            <a:ext cx="1651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</a:rPr>
              <a:t>Can coarse evidence approach the geometry?</a:t>
            </a:r>
            <a:endParaRPr lang="zh-CN" altLang="en-US" sz="12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5E943C-6E19-470D-B9AC-490C9CD02395}"/>
              </a:ext>
            </a:extLst>
          </p:cNvPr>
          <p:cNvSpPr/>
          <p:nvPr/>
        </p:nvSpPr>
        <p:spPr>
          <a:xfrm>
            <a:off x="5029200" y="2222500"/>
            <a:ext cx="1955800" cy="2286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7CB1E2-EB30-FCC4-9411-945215F274DD}"/>
              </a:ext>
            </a:extLst>
          </p:cNvPr>
          <p:cNvSpPr txBox="1"/>
          <p:nvPr/>
        </p:nvSpPr>
        <p:spPr>
          <a:xfrm>
            <a:off x="5219700" y="2476500"/>
            <a:ext cx="1574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2E97DA"/>
                </a:solidFill>
                <a:latin typeface="Arial" panose="020B0604020202020204" pitchFamily="34" charset="0"/>
              </a:rPr>
              <a:t>R3</a:t>
            </a:r>
            <a:endParaRPr lang="zh-CN" altLang="en-US" sz="14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342D3E-467E-29AC-CB99-FDE82D3C8271}"/>
              </a:ext>
            </a:extLst>
          </p:cNvPr>
          <p:cNvSpPr txBox="1"/>
          <p:nvPr/>
        </p:nvSpPr>
        <p:spPr>
          <a:xfrm>
            <a:off x="5181600" y="2984500"/>
            <a:ext cx="165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Effectiveness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EF6393F-1384-0117-2298-A72BFE53A837}"/>
              </a:ext>
            </a:extLst>
          </p:cNvPr>
          <p:cNvSpPr txBox="1"/>
          <p:nvPr/>
        </p:nvSpPr>
        <p:spPr>
          <a:xfrm>
            <a:off x="5181600" y="3683000"/>
            <a:ext cx="1651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</a:rPr>
              <a:t>Does learned DUCA beat matched U?</a:t>
            </a:r>
            <a:endParaRPr lang="zh-CN" altLang="en-US" sz="12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8F6F76-C855-BF55-66BE-8E6044EE4A61}"/>
              </a:ext>
            </a:extLst>
          </p:cNvPr>
          <p:cNvSpPr/>
          <p:nvPr/>
        </p:nvSpPr>
        <p:spPr>
          <a:xfrm>
            <a:off x="7239000" y="2222500"/>
            <a:ext cx="1955800" cy="2286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CDED05-9189-9976-E446-51DF70D8A267}"/>
              </a:ext>
            </a:extLst>
          </p:cNvPr>
          <p:cNvSpPr txBox="1"/>
          <p:nvPr/>
        </p:nvSpPr>
        <p:spPr>
          <a:xfrm>
            <a:off x="7429500" y="2476500"/>
            <a:ext cx="1574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2E97DA"/>
                </a:solidFill>
                <a:latin typeface="Arial" panose="020B0604020202020204" pitchFamily="34" charset="0"/>
              </a:rPr>
              <a:t>R4</a:t>
            </a:r>
            <a:endParaRPr lang="zh-CN" altLang="en-US" sz="14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513A69-7996-2304-62D8-132CEC918275}"/>
              </a:ext>
            </a:extLst>
          </p:cNvPr>
          <p:cNvSpPr txBox="1"/>
          <p:nvPr/>
        </p:nvSpPr>
        <p:spPr>
          <a:xfrm>
            <a:off x="7391400" y="2984500"/>
            <a:ext cx="165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Attribution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219515-8D30-084D-D273-DBEF6D3097C9}"/>
              </a:ext>
            </a:extLst>
          </p:cNvPr>
          <p:cNvSpPr txBox="1"/>
          <p:nvPr/>
        </p:nvSpPr>
        <p:spPr>
          <a:xfrm>
            <a:off x="7391400" y="3683000"/>
            <a:ext cx="1651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</a:rPr>
              <a:t>Does feedback add real mAP?</a:t>
            </a:r>
            <a:endParaRPr lang="zh-CN" altLang="en-US" sz="12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3F052C-53C4-FCD1-00B0-4B6782809201}"/>
              </a:ext>
            </a:extLst>
          </p:cNvPr>
          <p:cNvSpPr/>
          <p:nvPr/>
        </p:nvSpPr>
        <p:spPr>
          <a:xfrm>
            <a:off x="9448800" y="2222500"/>
            <a:ext cx="1955800" cy="2286000"/>
          </a:xfrm>
          <a:prstGeom prst="rect">
            <a:avLst/>
          </a:prstGeom>
          <a:solidFill>
            <a:srgbClr val="F4F7FA"/>
          </a:solidFill>
          <a:ln>
            <a:solidFill>
              <a:srgbClr val="DDE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65EC2A-C70F-563D-F025-17C44131CB01}"/>
              </a:ext>
            </a:extLst>
          </p:cNvPr>
          <p:cNvSpPr txBox="1"/>
          <p:nvPr/>
        </p:nvSpPr>
        <p:spPr>
          <a:xfrm>
            <a:off x="9639300" y="2476500"/>
            <a:ext cx="1574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2E97DA"/>
                </a:solidFill>
                <a:latin typeface="Arial" panose="020B0604020202020204" pitchFamily="34" charset="0"/>
              </a:rPr>
              <a:t>R5</a:t>
            </a:r>
            <a:endParaRPr lang="zh-CN" altLang="en-US" sz="14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BF0FAB-3733-99BB-74CE-513DEB0A4DB2}"/>
              </a:ext>
            </a:extLst>
          </p:cNvPr>
          <p:cNvSpPr txBox="1"/>
          <p:nvPr/>
        </p:nvSpPr>
        <p:spPr>
          <a:xfrm>
            <a:off x="9601200" y="2984500"/>
            <a:ext cx="1651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01E2D"/>
                </a:solidFill>
                <a:latin typeface="Arial" panose="020B0604020202020204" pitchFamily="34" charset="0"/>
              </a:rPr>
              <a:t>Efficiency / generality</a:t>
            </a:r>
            <a:endParaRPr lang="zh-CN" altLang="en-US" sz="1500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0E87BBB-AA91-7544-5AEA-5DEACF5E0DD8}"/>
              </a:ext>
            </a:extLst>
          </p:cNvPr>
          <p:cNvSpPr txBox="1"/>
          <p:nvPr/>
        </p:nvSpPr>
        <p:spPr>
          <a:xfrm>
            <a:off x="9601200" y="3683000"/>
            <a:ext cx="1651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>
                <a:solidFill>
                  <a:srgbClr val="526476"/>
                </a:solidFill>
                <a:latin typeface="Arial" panose="020B0604020202020204" pitchFamily="34" charset="0"/>
              </a:rPr>
              <a:t>Does the Pareto hold across budgets/backends?</a:t>
            </a:r>
            <a:endParaRPr lang="zh-CN" altLang="en-US" sz="12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A8489A7-16A8-C582-D940-9B7AE175717D}"/>
              </a:ext>
            </a:extLst>
          </p:cNvPr>
          <p:cNvSpPr txBox="1"/>
          <p:nvPr/>
        </p:nvSpPr>
        <p:spPr>
          <a:xfrm>
            <a:off x="609600" y="5143500"/>
            <a:ext cx="1079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101E2D"/>
                </a:solidFill>
                <a:latin typeface="Arial" panose="020B0604020202020204" pitchFamily="34" charset="0"/>
              </a:rPr>
              <a:t>Only a completed R3/R5 evidence chain can support the final accuracy-efficiency paper claim.</a:t>
            </a:r>
            <a:endParaRPr lang="zh-CN" altLang="en-US" b="1">
              <a:solidFill>
                <a:srgbClr val="101E2D"/>
              </a:solidFill>
              <a:latin typeface="Arial" panose="020B0604020202020204" pitchFamily="34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2C8F394-8A0A-E5AD-4121-9D381D194C09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DD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B3F6888-81AF-B8F5-088D-9F573A30DC4F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26476"/>
                </a:solidFill>
                <a:latin typeface="Arial" panose="020B0604020202020204" pitchFamily="34" charset="0"/>
              </a:rPr>
              <a:t>Current status: R0/R1 evidence; downstream claims remain gated.</a:t>
            </a:r>
            <a:endParaRPr lang="zh-CN" altLang="en-US" sz="800">
              <a:solidFill>
                <a:srgbClr val="52647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08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48EBCE-DDF3-0670-9A08-EFEB5C4245BF}"/>
              </a:ext>
            </a:extLst>
          </p:cNvPr>
          <p:cNvSpPr txBox="1"/>
          <p:nvPr/>
        </p:nvSpPr>
        <p:spPr>
          <a:xfrm>
            <a:off x="609600" y="3556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E97DA"/>
                </a:solidFill>
                <a:latin typeface="Arial" panose="020B0604020202020204" pitchFamily="34" charset="0"/>
              </a:rPr>
              <a:t>POST-PAPER VERDICT</a:t>
            </a:r>
            <a:endParaRPr lang="zh-CN" altLang="en-US" sz="1000" b="1">
              <a:solidFill>
                <a:srgbClr val="2E97DA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E973FF-28E5-CD1B-BF18-3262ADCCB454}"/>
              </a:ext>
            </a:extLst>
          </p:cNvPr>
          <p:cNvSpPr txBox="1"/>
          <p:nvPr/>
        </p:nvSpPr>
        <p:spPr>
          <a:xfrm>
            <a:off x="609600" y="609600"/>
            <a:ext cx="10541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FFFFFF"/>
                </a:solidFill>
                <a:latin typeface="Arial" panose="020B0604020202020204" pitchFamily="34" charset="0"/>
              </a:rPr>
              <a:t>What this retrospective supports, and what must remain HOLD</a:t>
            </a:r>
            <a:endParaRPr lang="zh-CN" altLang="en-US" sz="2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17D0627-28A5-EC33-4C31-D6DDA4F36AF4}"/>
              </a:ext>
            </a:extLst>
          </p:cNvPr>
          <p:cNvCxnSpPr/>
          <p:nvPr/>
        </p:nvCxnSpPr>
        <p:spPr>
          <a:xfrm>
            <a:off x="609600" y="1524000"/>
            <a:ext cx="10972800" cy="0"/>
          </a:xfrm>
          <a:prstGeom prst="line">
            <a:avLst/>
          </a:prstGeom>
          <a:ln>
            <a:solidFill>
              <a:srgbClr val="3F5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AA88211-D45F-BEAD-686D-D93483E8F5B6}"/>
              </a:ext>
            </a:extLst>
          </p:cNvPr>
          <p:cNvSpPr txBox="1"/>
          <p:nvPr/>
        </p:nvSpPr>
        <p:spPr>
          <a:xfrm>
            <a:off x="11239500" y="4064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100" b="1">
                <a:solidFill>
                  <a:srgbClr val="BED3E6"/>
                </a:solidFill>
                <a:latin typeface="Arial" panose="020B0604020202020204" pitchFamily="34" charset="0"/>
              </a:rPr>
              <a:t>14</a:t>
            </a:r>
            <a:endParaRPr lang="zh-CN" altLang="en-US" sz="1100" b="1">
              <a:solidFill>
                <a:srgbClr val="BED3E6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6DA0A7-22BE-FB76-A096-C4CC90572822}"/>
              </a:ext>
            </a:extLst>
          </p:cNvPr>
          <p:cNvSpPr/>
          <p:nvPr/>
        </p:nvSpPr>
        <p:spPr>
          <a:xfrm>
            <a:off x="609600" y="1905000"/>
            <a:ext cx="5207000" cy="3492500"/>
          </a:xfrm>
          <a:prstGeom prst="rect">
            <a:avLst/>
          </a:prstGeom>
          <a:solidFill>
            <a:srgbClr val="133848"/>
          </a:solidFill>
          <a:ln>
            <a:solidFill>
              <a:srgbClr val="469B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48B129-E3A8-617C-BC19-010CD2ACAFA5}"/>
              </a:ext>
            </a:extLst>
          </p:cNvPr>
          <p:cNvSpPr txBox="1"/>
          <p:nvPr/>
        </p:nvSpPr>
        <p:spPr>
          <a:xfrm>
            <a:off x="889000" y="2260600"/>
            <a:ext cx="381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69C5F0"/>
                </a:solidFill>
                <a:latin typeface="Arial" panose="020B0604020202020204" pitchFamily="34" charset="0"/>
              </a:rPr>
              <a:t>SUPPORTED</a:t>
            </a:r>
            <a:endParaRPr lang="zh-CN" altLang="en-US" sz="2000" b="1">
              <a:solidFill>
                <a:srgbClr val="69C5F0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1ED40F-0F30-14EB-F3E6-52E3EE9BD956}"/>
              </a:ext>
            </a:extLst>
          </p:cNvPr>
          <p:cNvSpPr txBox="1"/>
          <p:nvPr/>
        </p:nvSpPr>
        <p:spPr>
          <a:xfrm>
            <a:off x="889000" y="2857500"/>
            <a:ext cx="4318000" cy="255454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Arial" panose="020B0604020202020204" pitchFamily="34" charset="0"/>
              </a:rPr>
              <a:t>Uniform remains the matched reference.
Several plausible mechanisms failed transparently.
Boundary-aware allocation is a precise, falsifiable hypothesis.
The current protocol makes future outcomes interpretable.</a:t>
            </a:r>
            <a:endParaRPr lang="zh-CN" altLang="en-US" sz="16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36287C-6E3D-2885-8767-C868E9CFE377}"/>
              </a:ext>
            </a:extLst>
          </p:cNvPr>
          <p:cNvSpPr/>
          <p:nvPr/>
        </p:nvSpPr>
        <p:spPr>
          <a:xfrm>
            <a:off x="6375400" y="1905000"/>
            <a:ext cx="5207000" cy="3492500"/>
          </a:xfrm>
          <a:prstGeom prst="rect">
            <a:avLst/>
          </a:prstGeom>
          <a:solidFill>
            <a:srgbClr val="40222A"/>
          </a:solidFill>
          <a:ln>
            <a:solidFill>
              <a:srgbClr val="DA53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9A5B36-F42A-10B7-EF32-83BC76613E9B}"/>
              </a:ext>
            </a:extLst>
          </p:cNvPr>
          <p:cNvSpPr txBox="1"/>
          <p:nvPr/>
        </p:nvSpPr>
        <p:spPr>
          <a:xfrm>
            <a:off x="6654800" y="2260600"/>
            <a:ext cx="3810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FFAEAE"/>
                </a:solidFill>
                <a:latin typeface="Arial" panose="020B0604020202020204" pitchFamily="34" charset="0"/>
              </a:rPr>
              <a:t>HOLD</a:t>
            </a:r>
            <a:endParaRPr lang="zh-CN" altLang="en-US" sz="2000" b="1">
              <a:solidFill>
                <a:srgbClr val="FFAEAE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5C2AC8-69F4-6109-2E39-3E2AD1C65181}"/>
              </a:ext>
            </a:extLst>
          </p:cNvPr>
          <p:cNvSpPr txBox="1"/>
          <p:nvPr/>
        </p:nvSpPr>
        <p:spPr>
          <a:xfrm>
            <a:off x="6654800" y="2857500"/>
            <a:ext cx="4318000" cy="196977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FFFFFF"/>
                </a:solidFill>
                <a:latin typeface="Arial" panose="020B0604020202020204" pitchFamily="34" charset="0"/>
              </a:rPr>
              <a:t>DUCA has not beaten matched uniform.
High-IoU protection is not established.
End-to-end cost reduction is not measured.
Multi-seed, budget, and second-backend claims are open.</a:t>
            </a:r>
            <a:endParaRPr lang="zh-CN" altLang="en-US" sz="16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7955E8-89C4-02CB-0A4E-4259A6B8448F}"/>
              </a:ext>
            </a:extLst>
          </p:cNvPr>
          <p:cNvSpPr txBox="1"/>
          <p:nvPr/>
        </p:nvSpPr>
        <p:spPr>
          <a:xfrm>
            <a:off x="609600" y="5867400"/>
            <a:ext cx="1079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DAE5EF"/>
                </a:solidFill>
                <a:latin typeface="Arial" panose="020B0604020202020204" pitchFamily="34" charset="0"/>
              </a:rPr>
              <a:t>Correct scientific posture: a complete research retrospective, not a completed method paper.</a:t>
            </a:r>
            <a:endParaRPr lang="zh-CN" altLang="en-US" b="1">
              <a:solidFill>
                <a:srgbClr val="DAE5EF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F459B71-BBAC-59BB-AF37-3AB9DF684C2D}"/>
              </a:ext>
            </a:extLst>
          </p:cNvPr>
          <p:cNvCxnSpPr/>
          <p:nvPr/>
        </p:nvCxnSpPr>
        <p:spPr>
          <a:xfrm>
            <a:off x="609600" y="6477000"/>
            <a:ext cx="10972800" cy="0"/>
          </a:xfrm>
          <a:prstGeom prst="line">
            <a:avLst/>
          </a:prstGeom>
          <a:ln>
            <a:solidFill>
              <a:srgbClr val="3F5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3F0CECC-DFB5-5301-B88E-1AC25C519A87}"/>
              </a:ext>
            </a:extLst>
          </p:cNvPr>
          <p:cNvSpPr txBox="1"/>
          <p:nvPr/>
        </p:nvSpPr>
        <p:spPr>
          <a:xfrm>
            <a:off x="609600" y="6578600"/>
            <a:ext cx="10287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BED3E6"/>
                </a:solidFill>
                <a:latin typeface="Arial" panose="020B0604020202020204" pitchFamily="34" charset="0"/>
              </a:rPr>
              <a:t>Decision rule: no result claim without official terminal mAP and full-stack cost.</a:t>
            </a:r>
            <a:endParaRPr lang="zh-CN" altLang="en-US" sz="800">
              <a:solidFill>
                <a:srgbClr val="BED3E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938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Microsoft Office PowerPoint</Application>
  <PresentationFormat>自定义</PresentationFormat>
  <Paragraphs>222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H288696@365mmt.com</dc:creator>
  <cp:lastModifiedBy>H288696@365mmt.com</cp:lastModifiedBy>
  <cp:revision>1</cp:revision>
  <dcterms:created xsi:type="dcterms:W3CDTF">2026-07-23T07:17:21Z</dcterms:created>
  <dcterms:modified xsi:type="dcterms:W3CDTF">2026-07-23T07:17:21Z</dcterms:modified>
</cp:coreProperties>
</file>