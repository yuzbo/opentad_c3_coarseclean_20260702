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0ef853eab1472b" /><Relationship Type="http://schemas.openxmlformats.org/officeDocument/2006/relationships/extended-properties" Target="/docProps/app.xml" Id="Rdad4068373e1461d" /><Relationship Type="http://schemas.openxmlformats.org/officeDocument/2006/relationships/officeDocument" Target="/ppt/presentation.xml" Id="Rb97e8136f3bf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60126b6f342c6"/>
  </p:sldMasterIdLst>
  <p:notesMasterIdLst>
    <p:notesMasterId xmlns:r="http://schemas.openxmlformats.org/officeDocument/2006/relationships" r:id="Rd55b237844b04f47"/>
  </p:notesMasterIdLst>
  <p:sldIdLst>
    <p:sldId xmlns:r="http://schemas.openxmlformats.org/officeDocument/2006/relationships" id="256" r:id="Rfa7ee53106104ba5"/>
    <p:sldId xmlns:r="http://schemas.openxmlformats.org/officeDocument/2006/relationships" id="257" r:id="Rbaea6b56b6234c4c"/>
    <p:sldId xmlns:r="http://schemas.openxmlformats.org/officeDocument/2006/relationships" id="258" r:id="R9e43960596b04a9b"/>
    <p:sldId xmlns:r="http://schemas.openxmlformats.org/officeDocument/2006/relationships" id="259" r:id="R421fea574d584719"/>
    <p:sldId xmlns:r="http://schemas.openxmlformats.org/officeDocument/2006/relationships" id="260" r:id="R015d08461bf74b79"/>
    <p:sldId xmlns:r="http://schemas.openxmlformats.org/officeDocument/2006/relationships" id="261" r:id="Reeff93278990493b"/>
    <p:sldId xmlns:r="http://schemas.openxmlformats.org/officeDocument/2006/relationships" id="262" r:id="R40ff259e9fea4c92"/>
    <p:sldId xmlns:r="http://schemas.openxmlformats.org/officeDocument/2006/relationships" id="263" r:id="R7e87e69f9ba04dc8"/>
    <p:sldId xmlns:r="http://schemas.openxmlformats.org/officeDocument/2006/relationships" id="264" r:id="R123987731738446c"/>
    <p:sldId xmlns:r="http://schemas.openxmlformats.org/officeDocument/2006/relationships" id="265" r:id="R9eee10b716fe4e6a"/>
    <p:sldId xmlns:r="http://schemas.openxmlformats.org/officeDocument/2006/relationships" id="266" r:id="R6470b67df2064a8f"/>
    <p:sldId xmlns:r="http://schemas.openxmlformats.org/officeDocument/2006/relationships" id="267" r:id="R4b24b46313d044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eb2a88d534b76" /><Relationship Type="http://schemas.openxmlformats.org/officeDocument/2006/relationships/slideMaster" Target="/ppt/slideMasters/slideMaster1.xml" Id="Re4c60126b6f342c6" /><Relationship Type="http://schemas.openxmlformats.org/officeDocument/2006/relationships/notesMaster" Target="/ppt/notesMasters/notesMaster1.xml" Id="Rd55b237844b04f47" /><Relationship Type="http://schemas.openxmlformats.org/officeDocument/2006/relationships/presProps" Target="/ppt/presProps.xml" Id="R4113313a77a3442e" /><Relationship Type="http://schemas.openxmlformats.org/officeDocument/2006/relationships/tableStyles" Target="/ppt/tableStyles.xml" Id="Ra211b933e5e54baa" /><Relationship Type="http://schemas.openxmlformats.org/officeDocument/2006/relationships/slide" Target="/ppt/slides/slide1.xml" Id="Rfa7ee53106104ba5" /><Relationship Type="http://schemas.openxmlformats.org/officeDocument/2006/relationships/slide" Target="/ppt/slides/slide2.xml" Id="Rbaea6b56b6234c4c" /><Relationship Type="http://schemas.openxmlformats.org/officeDocument/2006/relationships/slide" Target="/ppt/slides/slide3.xml" Id="R9e43960596b04a9b" /><Relationship Type="http://schemas.openxmlformats.org/officeDocument/2006/relationships/slide" Target="/ppt/slides/slide4.xml" Id="R421fea574d584719" /><Relationship Type="http://schemas.openxmlformats.org/officeDocument/2006/relationships/slide" Target="/ppt/slides/slide5.xml" Id="R015d08461bf74b79" /><Relationship Type="http://schemas.openxmlformats.org/officeDocument/2006/relationships/slide" Target="/ppt/slides/slide6.xml" Id="Reeff93278990493b" /><Relationship Type="http://schemas.openxmlformats.org/officeDocument/2006/relationships/slide" Target="/ppt/slides/slide7.xml" Id="R40ff259e9fea4c92" /><Relationship Type="http://schemas.openxmlformats.org/officeDocument/2006/relationships/slide" Target="/ppt/slides/slide8.xml" Id="R7e87e69f9ba04dc8" /><Relationship Type="http://schemas.openxmlformats.org/officeDocument/2006/relationships/slide" Target="/ppt/slides/slide9.xml" Id="R123987731738446c" /><Relationship Type="http://schemas.openxmlformats.org/officeDocument/2006/relationships/slide" Target="/ppt/slides/slide10.xml" Id="R9eee10b716fe4e6a" /><Relationship Type="http://schemas.openxmlformats.org/officeDocument/2006/relationships/slide" Target="/ppt/slides/slide11.xml" Id="R6470b67df2064a8f" /><Relationship Type="http://schemas.openxmlformats.org/officeDocument/2006/relationships/slide" Target="/ppt/slides/slide12.xml" Id="R4b24b46313d044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05c82c4b4e4d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768fb8b0b841db" /><Relationship Type="http://schemas.openxmlformats.org/officeDocument/2006/relationships/notesMaster" Target="/ppt/notesMasters/notesMaster1.xml" Id="Rf9a889fd7f8c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a24995e7d849ab" /><Relationship Type="http://schemas.openxmlformats.org/officeDocument/2006/relationships/notesMaster" Target="/ppt/notesMasters/notesMaster1.xml" Id="Rfa41696182c548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11e1645c334304" /><Relationship Type="http://schemas.openxmlformats.org/officeDocument/2006/relationships/notesMaster" Target="/ppt/notesMasters/notesMaster1.xml" Id="R9185903446b641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a12c5001e34ef7" /><Relationship Type="http://schemas.openxmlformats.org/officeDocument/2006/relationships/notesMaster" Target="/ppt/notesMasters/notesMaster1.xml" Id="R58d6bf5fc351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058569a4854b10" /><Relationship Type="http://schemas.openxmlformats.org/officeDocument/2006/relationships/notesMaster" Target="/ppt/notesMasters/notesMaster1.xml" Id="R702a687fb4b648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d4017351f74242" /><Relationship Type="http://schemas.openxmlformats.org/officeDocument/2006/relationships/notesMaster" Target="/ppt/notesMasters/notesMaster1.xml" Id="R8620d26fb58b47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189d710e574928" /><Relationship Type="http://schemas.openxmlformats.org/officeDocument/2006/relationships/notesMaster" Target="/ppt/notesMasters/notesMaster1.xml" Id="R21622aacc3704c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ceb7b59b7f4d89" /><Relationship Type="http://schemas.openxmlformats.org/officeDocument/2006/relationships/notesMaster" Target="/ppt/notesMasters/notesMaster1.xml" Id="Rd5cac6d0802a41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db02d004214c54" /><Relationship Type="http://schemas.openxmlformats.org/officeDocument/2006/relationships/notesMaster" Target="/ppt/notesMasters/notesMaster1.xml" Id="R4771d336fe0b45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7e455bba9c42de" /><Relationship Type="http://schemas.openxmlformats.org/officeDocument/2006/relationships/notesMaster" Target="/ppt/notesMasters/notesMaster1.xml" Id="R4cd913bf1d754a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3b95b8c4c44fbd" /><Relationship Type="http://schemas.openxmlformats.org/officeDocument/2006/relationships/notesMaster" Target="/ppt/notesMasters/notesMaster1.xml" Id="R91bac345932943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7435bb85db4822" /><Relationship Type="http://schemas.openxmlformats.org/officeDocument/2006/relationships/notesMaster" Target="/ppt/notesMasters/notesMaster1.xml" Id="Rf0343ed5e32f4c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开场直接正面定义：DUCA-TAD 是一个放在检测器前的在线时序采集插件。它面向长视频动作检测，在严格预算下只把关键时间点交给检测器。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先让非本领域听众理解任务：识别动作只是第一步，检测器还要准确找到开始和结束。高重合度指标会严格惩罚边界偏差。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这一页把研究问题讲成预算分配：同样是 384 个位置，关键是把预算分配给对检测有用的时间点，而不是平均或只看动作置信度。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这里是创新点的通俗表述。DUCA 的目标是寻找最能帮助检测器定位和排序的位置。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这是公开版主流程图。上方是推理时的主线，下方分别是训练时的校准信息和运行后的审计记录。讲述时强调它是检测器前的插件。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这一页把输入信息说清楚，去掉大量英文名。部署时 DUCA 看到的是低成本线索；训练时的检测器反馈不会进入部署决策。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训练叙事要讲得优雅：先用训练集上的检测器反馈校准选择器，再在稀疏输入条件下微调，最后上线时只保留可部署线索。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这一页用一个直观类比解释 sparse grid：选择后的顺序只是打包顺序，评估动作边界必须回到原始视频时间。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这一页把实验逻辑变成听众能懂的三层证据链：动作先验、选择几何、最终检测结果。强调最后一层才是核心裁决。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实验名改成中文。讲述时说明所有可部署方法都在同一预算下比较，诊断上界只帮助理解天花板。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当前论文还没有最终 full-run 数值，所以公开报告版把结果解读规则讲清楚。后续填表时只填真实运行结果。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结尾回到最简单的一句话：DUCA-TAD 是一个检测器前的在线时序采集插件，核心是少看关键点并保护原始时间边界。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681246a2d4a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e47f759c554baf" /><Relationship Type="http://schemas.openxmlformats.org/officeDocument/2006/relationships/slideLayout" Target="/ppt/slideLayouts/slideLayout1.xml" Id="R99982e1db9064c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982e1db9064c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f0a1a5932453b" /><Relationship Type="http://schemas.openxmlformats.org/officeDocument/2006/relationships/notesSlide" Target="/ppt/notesSlides/notesSlide1.xml" Id="R121a805d912c44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d974e268c439f" /><Relationship Type="http://schemas.openxmlformats.org/officeDocument/2006/relationships/notesSlide" Target="/ppt/notesSlides/notesSlide2.xml" Id="R781adc7f328e42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fd14b5b11492b" /><Relationship Type="http://schemas.openxmlformats.org/officeDocument/2006/relationships/notesSlide" Target="/ppt/notesSlides/notesSlide3.xml" Id="R3b6f73c5df9b42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a5ff78eca4b6f" /><Relationship Type="http://schemas.openxmlformats.org/officeDocument/2006/relationships/notesSlide" Target="/ppt/notesSlides/notesSlide4.xml" Id="R02e0ac3558f240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c8fde0d8e41a1" /><Relationship Type="http://schemas.openxmlformats.org/officeDocument/2006/relationships/notesSlide" Target="/ppt/notesSlides/notesSlide5.xml" Id="R467822b7f99541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a9ceff2384d9c" /><Relationship Type="http://schemas.openxmlformats.org/officeDocument/2006/relationships/notesSlide" Target="/ppt/notesSlides/notesSlide6.xml" Id="R889f3ba464a14f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549952f354f2c" /><Relationship Type="http://schemas.openxmlformats.org/officeDocument/2006/relationships/notesSlide" Target="/ppt/notesSlides/notesSlide7.xml" Id="Rb941d3289cb143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0b8ec1137495f" /><Relationship Type="http://schemas.openxmlformats.org/officeDocument/2006/relationships/notesSlide" Target="/ppt/notesSlides/notesSlide8.xml" Id="Rf3e44ab46ee646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e7b682dc84fdf" /><Relationship Type="http://schemas.openxmlformats.org/officeDocument/2006/relationships/notesSlide" Target="/ppt/notesSlides/notesSlide9.xml" Id="Rbea38a691d7b4f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eb699474e4ed6" /><Relationship Type="http://schemas.openxmlformats.org/officeDocument/2006/relationships/notesSlide" Target="/ppt/notesSlides/notesSlide10.xml" Id="Rbf8dc0b034eb40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2d30454a642e5" /><Relationship Type="http://schemas.openxmlformats.org/officeDocument/2006/relationships/notesSlide" Target="/ppt/notesSlides/notesSlide11.xml" Id="Re06472ef517545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2329eb9b440be" /><Relationship Type="http://schemas.openxmlformats.org/officeDocument/2006/relationships/notesSlide" Target="/ppt/notesSlides/notesSlide12.xml" Id="Rccdeead51e4840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6472D-3B53-4C4B-88F3-72097C19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F812E-AF73-49F1-8CD6-2E5CEC5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DAFFA-1AF1-48AF-BEB0-43E998DD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42586-4012-4B65-A57D-98D5FCF7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7D54D-79E0-4126-A80E-5D6A68C4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76A24-2F1C-4E37-B802-6352617F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56C87-5673-4186-80A8-9FE9163C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00EFB-F441-49C4-80B4-FFA05AD3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B87E8-53DC-4FAE-9580-EB05B4F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E7902-DB83-456F-BE99-867E8713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D52D1-336A-4E00-8698-D7A0117F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39ED7-DBB1-453F-8716-15E12E80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92392-81C8-499E-9000-BEC0AF74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E53E6-03D8-43C1-B32C-060FEB40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75FD8-882B-4BFD-A3E6-2775BC91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A9A70-4CE4-48EC-99D2-6AC5F1A8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17A54-CFF4-4356-B979-048DB98F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rPr>
              <a:t>让长视频动作检测少看一半时间点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1DDE3-86B6-4FEB-BE87-68DF8507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这是一个放在检测器前的在线时序采集插件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AA876-298E-465E-B6DE-585DCF3F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A02B2-6962-4B43-9C3C-668D3EED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2E52F-EA39-4B89-B0DC-382CEF0E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716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A0C14-5E5E-45E7-95CB-F8B4ECD0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82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9D808-5760-486E-B085-0823B765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47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AEFCA-B743-49B8-959F-263E727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6413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33FFB-E25F-4A0C-808B-BAB40BD5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979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65F9F0-3667-4A57-A983-D6D3C8A2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545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84100-E17F-449E-9D7E-475BE118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111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4AC5B-91B9-4168-B8CA-EC5E036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676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67C6A7-B8B8-4AD6-9255-BFAE3670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242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B566A6-14D1-4635-9F43-D91F71B6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808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B8DD83-086D-4529-A468-F2D8901B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374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DA1B4B-4A64-403C-B9E8-BFD7D05A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939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C64F1B-2E92-44AE-9FFC-AE945EED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505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C6931-22DC-48E0-B41F-63EE35A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071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4537B3-EDDD-4707-B7D4-2079D3DE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637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DC1486-B36D-407B-BFA1-7B50578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203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303F13-8E2E-43CC-B553-072AF36F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768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528DDC-C1BB-4D99-8C6A-5AE9D739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334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523AF0-5E94-408E-B97E-458452F4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35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F52E29-5C5B-430C-8B20-9A6A091B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182" y="131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3A6100-45B3-4F5E-90C7-B36E936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879" y="131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CE174A-BB55-4D57-8F6F-AAD3DD09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445" y="131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8D3988-6866-407B-ADDC-47E3568B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708" y="131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43D70E-DA6C-4580-B07D-5BE06FD1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971" y="131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9A1738-F167-428C-B910-2E1651F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668" y="1314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F912C9-A524-4FC8-BA9C-48EA2A20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长视频时间线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A6362C-8D8D-4B77-BA0D-B88254CD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只把关键时间点交给检测器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97F8B0-29F3-4C87-B63A-76F9FE48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7C1996-CD76-4654-922C-E1653D38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面向任务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97BA8F-63AE-4260-8EBA-ACE50F0B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时序动作检测：找到动作类别，并定位开始和结束时间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DA6606-7C56-48D0-8D65-17341140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D1665D-CCC8-4217-8838-DE11D5F6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核心约束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F510F1-0035-4872-B2C8-F6AF840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从 768 个候选时间点中，最多选择 384 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F4FF4D-51C4-48AA-A1C8-B275E22F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718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34725B-578E-4CD2-B117-475B3440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目标结果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D4E293-E4E3-46BD-9F98-150A5D75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让检测器处理更少输入，同时保护高重合度定位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BD3657-886A-44B3-B227-1EB6CC03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813384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C5B0A3-F2B1-4EC1-A6E7-2541A1F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99B90-5B0C-4841-B9D0-CA36F7F7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800AC-0602-46FE-A3BB-F0B95169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1FB70-3C68-4E01-BBE6-CD663448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0C67B-3034-4D99-A5F0-B352B853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101A8-BC75-4954-9A8F-6F645EC0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8BBEA-1BB8-4450-BF2D-4ACCE8E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94F6E-624B-4787-90A1-2FD3953B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81B68-3AF5-4BB9-A7B9-C4F4DEF7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69801-DDE1-4A49-A1B7-7A3BCF50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C6B0D-EE32-4F4C-A950-35BD37FB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E4687-FC59-43E7-952D-2ABD5A03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409BE-96BA-4C86-94F1-B306473E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2DF17-F3F8-4454-9303-82929BB3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55658-06E6-452F-A53E-179DACED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4E6FF-6451-447B-A203-EAD1366D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71ED4-5F74-455C-AFC3-A5BE7B6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长视频动作检测真正难在“边界”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03EEE-3D3D-4C32-85D5-9A534348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74B80-5299-4868-92C0-FC1F2F7B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一个动作片段要同时答对两件事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220FA-D2A8-473F-8E77-820A2E2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619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E648A-934D-4DD7-93C9-67559B9F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识别动作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F33B0-6D14-4C20-8C51-F10807D2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这段视频里发生了什么动作，例如跳高、投篮、潜水。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8B97D-A5BC-4E31-A724-6766274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3619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1AA39-CD18-4325-98AD-0362C9F2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定位边界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EB861-59A5-4954-BB29-57C8C56B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动作从哪里开始，到哪里结束；误差越小，高分越可靠。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47DAB-322F-48AC-9336-3418B782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76825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0664C9-33CB-4A95-BEF6-27B66B56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17537-07AD-4486-8B02-B9993FF6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767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0DA676-5835-4B41-9BDB-1A7656F8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485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30CF6E-D5D1-421B-9D1D-0B1D1655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02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DE3EDE-8E66-41C7-84D3-19425D56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92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04E68A-2508-4C7E-93E3-2560A83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637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167E14-AC3C-4F00-9AC8-FAFFC226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354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DB7897-E6B6-4A65-A86B-B8DCCAF3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072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169062-D3BF-40C8-9AFA-B76CE581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789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3962D8-5A54-4778-BE75-D908E046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507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BD1018-392A-4C32-BC5D-CD0F802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224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820141-094C-49A0-9A9D-6D35CB77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941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81399-8F6A-47F2-918B-9B8FF9C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659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7AAC61-42D7-46AF-AFD0-7608B09C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376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6010F2-78F4-4054-9949-9B731DC9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093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2BF4BC-A62C-4861-A9B3-97C05E43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811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AAB8AD-5521-4F46-A493-F5E93051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528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EDC6A7-714E-4837-A0C7-49DC71C4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246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8A1B14-DAB9-4CF7-B8BB-CDED0890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963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D2BE1D-B4CE-466C-8E5D-6EA1ED88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68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712ACC-9862-419A-AFAA-1937B43D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398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CE44E4-F336-4CC1-8E09-6BCAFAE8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115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FE8574-778E-48F6-847B-58D4CD8C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833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1A7B44-E04E-4F35-B3D2-B761FECC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D793F9-48F8-4A75-B3BB-AAD2A8E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972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639829-D8C8-43D0-B3B4-B5FBCC35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89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E2103A-8826-41C0-A0C1-D94A2B2E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407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1D34E5-F242-490F-B108-9B146E8B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124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A0DB36-6C82-4623-9908-E9044DE4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41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C73653-BDE1-42B1-8A75-B6AEA2D9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559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6D5DF7-4663-479D-B1E4-385201E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276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D963E4-F728-435C-94FE-961229B4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993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3B8745-BBAF-49F3-A1DE-CEA591EE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006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E82E53-694A-4F93-B3EC-0A01B946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113B71-1D31-46A4-BAA4-5F16606B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14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开始边界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8BA94B-4D23-4EFD-870B-CEC58A93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14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结束边界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0C1F66-D7F3-444C-8C22-1CCA5D88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02F94C-A217-4CB1-8B9B-3B9F1656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86425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动作内部容易识别，动作边界决定高精度定位。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5DA9AC-71D6-4186-8386-4F11A97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534580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FB705-1104-4D17-9FE7-8311DFE9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9D3DC-0230-4A9F-8E43-D79CE0BB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80BC0-91F4-4B32-B52C-C2ECFAB8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8BBC9-9800-440A-A990-B7469470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BD669-32D4-43EB-97E9-DA7E626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05F56-18AF-4581-A653-444FD18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91715-BB21-4A32-B56A-9CD95E12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783E1-C114-41EE-8E84-E3BEA6A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B55D3-07D4-44C4-85F5-E23B142C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7691A-88C7-4ABB-93B1-48D815F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176B0-8BDE-436B-A213-E6C0F43D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A86A3-766C-49CD-B7E5-93FAEB33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D434B-A2F7-445C-BD1B-79C95F33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7B8CC-B4E6-45C4-BF47-46465629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00F94-A624-4C27-8C9F-AE47931A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14A4A-B1CF-4CFC-AAE0-B457B5F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5F7F4-970E-41AC-8361-DDEC2CE4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预算固定时，每个时间点都要花在刀刃上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D43F3-90F1-4843-A443-BEDA1C3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BA9FA-9AD8-40D5-B7A4-82C26727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检测器原本要看完整窗口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284C9-8A4B-40C2-8A61-F0EF7CF0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50EB8-62C7-47AA-A11E-2EB48F89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53461-7FC6-4448-8125-57D861DC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811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3EDA3-A28A-4735-A352-49781202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422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3933C-07B3-4DEB-9A37-624AB575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033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2C9DC-7830-4D9C-91D6-4C47D474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644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A479E-0D25-4AB7-8CE0-F73A0F03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256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C4CFA-1F22-4E7E-AB7B-A802C20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867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BAA456-3E9A-4266-840C-A8021A84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478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AD23D-C4E8-447C-A236-FAC87583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089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6497B-6AF2-4EEB-8335-7AD1AD75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34A9E-9FE6-4DCA-83C1-200A76C4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11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0A8E0C-F235-4916-B56B-7155444C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922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20E619-FEE2-43FC-87EA-20E446BF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533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4D1346-676E-4BBE-B658-56E321B1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144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2A567B-FAB9-4AA9-AB25-A08ED464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756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15C636-436C-48EE-895F-4A3A209D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367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425E80-6F7B-4F74-9C5C-4F8B9AA4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978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F9186F-C449-432B-A839-B052C96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589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B8BF56-033B-4A66-B7BC-CCE8EFE4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DA31D5-6503-452E-9625-2C27A28B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811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157D12-3F0A-4467-92E2-3D9BA274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422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BB3FAD-8C5D-41EB-A0FD-A793BD0A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33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684446-8A8E-47A9-BE11-8C3AFC2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644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0F5956-E543-4327-99A9-8D5D526E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256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8D0CC5-4888-43AD-9B17-4746BFAD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867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4A6495-5879-46A9-9674-33DD65A8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478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5D5CC-1C33-4209-897D-E82AF1D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89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7383C3-E702-456E-8071-E5BD4634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B53199-7712-4D8A-BF6D-6DDD96EF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C7A0B9-5CAB-4C0D-8F69-E26C896B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11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5C43FB-EC06-46D0-B5DA-DDC60D7E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22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BCF566-ED0D-4491-8272-1C22B0F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33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8E3F4E-E471-40DD-99C3-A59D7EA6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544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13B9E1-607B-43F5-838E-EFFD254E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156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7B6F43-EDDB-4398-BB8F-2C3B5A66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767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97B595-22FA-48BF-9FDD-45B1E323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378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383E1E-A866-422E-BE84-CF3B41C0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989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B135C2-0B0F-4E17-8441-E3C1BE5B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312ED4-D02E-437B-A9FC-14472ED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11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A2B33B-D747-4707-86BC-79F34579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822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59D451-B4F7-458C-B8DE-0F15C185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433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9D2FBB-9E8F-4573-B0F8-08F1744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044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EDAD18-BFD2-456E-A98E-04BC2EF6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656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4572840-6749-4FE2-B53F-09C63F57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267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B07C68-79F5-48EC-9B3B-70776E90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878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CDC830-E0C1-4DAF-B869-61197F16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489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182232-03DE-426B-9526-EC02285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100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38CB85-DC69-4A7E-8F8E-CA91836D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711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DABDA5-5700-472A-A011-1EECC7AA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322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9391F1E-7C97-4956-A910-88C840B8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933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969841-A572-4C5F-96AC-0EDB9C2E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544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38C6E8-933B-4DFD-984B-3DF5C60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156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F79B42-8770-4117-8433-AD762E60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767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62D804E-0A15-440E-BF54-A3901B4F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378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00D4C8-31FF-4D81-B684-37410006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989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A87CC0-5A90-46EC-8C83-D6CABE5B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CE816C9-E2BC-478F-9377-E1A67EAA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768 个候选时间点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80DAAE-DF15-4980-8EB7-0EC39A8E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 在当前窗口内即时选择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C7B8477-3986-48E9-BE70-74925FAF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51BCDF-9D71-48AF-90D1-D4BCED92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0ED4A4-EBCE-42E5-B4A1-1106088B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811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26D5EE-54BC-4F94-A19B-BDF1B9E3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422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5FA23A-8875-453C-BD76-748AF128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033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AAA99F-C691-4F19-B064-2D0E8628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644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0CC06C-0C96-4485-A4D1-A668A556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256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A33DFF3-D4E3-43B8-A3A2-DB9BA245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867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B765712-A92D-416A-A396-C9204897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478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5C4C29-B8CE-4B73-9737-3254E7EC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089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962BC5-73A3-4320-8ADE-964A60FD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6F0321-A936-4AB4-AB57-3D87C67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11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35A59A0-001E-43AC-8734-082D9BFD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922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030A62E-F95A-45BB-80E2-09E96DA4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533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DD4BB5C-7B56-4E80-9B24-52477A9F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144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E0CA55-AF62-4DF3-914E-57011B20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756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38CB66-CBEC-40C8-9CFA-56FD4A47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367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3CC0BC1-99A0-42BA-AE85-D5C6ABA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978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AE1D953-28A6-4C13-AD42-C9C5A0E8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589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B38DC79-66F4-42F1-BAF9-352ACA1A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83DB5A6-8C9E-4B28-9A2B-911088D7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811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19224C-F054-4576-9853-96D7AD9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422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514D684-6D2E-48ED-8575-64466201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33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6628A8D-BE68-462F-B04A-7C7AED92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4644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9E2408-3E86-4645-B3D9-8C0A1D33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256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B7F9AA-3A76-44BE-863B-C8AEDD02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867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9B52D32-7EA1-46A8-B604-718A3AD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478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668278-470A-493C-B9DF-00ECB4B0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89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95FC4B2-A027-4215-A03A-3D6DB8C0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6F35B43-1368-4C83-96C5-F2B44CFE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322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8021158-ABD9-4249-B0E2-8576EDC8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156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4F26D31-1869-4E1C-AAB4-436012B8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767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572CB71-3721-43BB-BF65-09104913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11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266B57-BE37-4F32-8CA5-30E6133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044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053A436-370C-4302-AC3F-9A1A4D7A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489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65FD2D2-03C1-4F26-8695-3A8F5E10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322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3863E5B-BC1C-4880-B96D-C8B0E86B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767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9A7C89D-9511-4B48-885A-58DC0891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95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最多 384 个被选时间点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2249217-0596-48F3-ABF6-12F271BC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964AD1C-A38A-4445-9A04-3AE8DE2E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86425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问题变成：哪些时间点最值得让检测器看到？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5E3D5D3-11B1-4D97-AA98-D90C3CA8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906514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5DAA2-887C-41F3-BADD-AAD1443B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F25BC-C113-415C-A3E8-06845417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787D6-4B90-40D3-BF37-8EA230F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2AB96-BFFF-4D7A-902F-797983AE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97A4A-5F7C-40D6-8452-A3534E99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4BAB1-AB98-4D1E-BC32-264D779A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14D5A-4E13-4663-904D-8E5B90F7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39ED5-8FC0-4D16-92E4-87770C3D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C4414-1055-4D65-9D57-38CFE8D6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B87D0-767B-464E-A3D6-7F297D48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7E764-129E-4DAF-86FD-3AA5310E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19EC1-07DB-4372-A793-4C92191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A304E-611F-4BD2-A545-CF1700B4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83A6F-F08F-4B67-9E3A-7FF1091D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D3EDD-7527-4CBD-B42F-31DB6F72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2F76D-4344-458F-BFE8-FBCDE834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44355-B196-472D-A319-39A8FAEE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 关注对检测有用的时间点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5FFAD-1C4F-4141-832D-7A8AD4F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38D8C-BDDD-40EE-95A2-80B72939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95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F2D18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3D1D5-E830-4846-BB16-9DAD276E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05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只看动作强弱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883E9-1B38-4FFC-9730-602163D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3714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容易反复选择动作最明显的中间部分。</a:t>
            </a:r>
          </a:p>
          <a:p xmlns:a="http://schemas.openxmlformats.org/drawingml/2006/main">
            <a:pPr algn="l">
              <a:defRPr sz="17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这些位置有助于识别类别，但对开始和结束边界帮助有限。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A4F28-9767-4673-BBC2-3F4CE63C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70D1D-4CD9-4D8F-AEE7-7848D5DD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1D904-9EBD-4790-B6CD-EBAA890F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297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E99E85-D514-463E-B66F-1D5F193B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194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E892D-3876-4DC7-BD05-98C79FC7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091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87556A-75F1-43E3-8FD2-5B130065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988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A59674-60F6-4FA3-B5EF-1373EFDD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885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39E811-3D6F-4697-87A9-CEEECCA3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782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2DDB3-061B-46B5-A903-45F44081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679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F14AC8-3042-425F-9E68-B1D8B3D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576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EAD159-04EF-4517-883E-AF30585F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474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0B89CE-F2B5-41D9-B323-FD1369DA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371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40C5DA-A0C9-4396-BA66-0ECB887E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268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29CD49-DA79-4F40-9EE5-0357E0AA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65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5B7AD4-B8F1-4157-9096-FCF1C23D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062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2A7E2E-5EBB-43D0-A499-8D8A1263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959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DAF0E1-C418-45F3-9FE4-647EBF4E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56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AEBE9A-8787-4052-9A5B-3D019742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753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B7A1F8-DE54-4313-BD66-BD52A39B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1FB10D-6060-43AA-9050-95ADA29D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476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1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B727BD-C5F3-404E-8959-97F55706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374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1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054334-79F9-44AA-8C16-6375B7F3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271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1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3F8F02-272A-4467-98D7-61CB08A1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8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1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57FC8D-2CF8-464E-B1FA-F9D4CDC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065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1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9BBC77-C125-4312-A4FB-18B378C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4095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50D6F1-ADEA-4D96-A606-87FD6AF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05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看检测效用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B67BCD-1D68-45D2-A726-3648D5E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3714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同时关注边界、支撑点和容易误报的背景。</a:t>
            </a:r>
          </a:p>
          <a:p xmlns:a="http://schemas.openxmlformats.org/drawingml/2006/main">
            <a:pPr algn="l">
              <a:defRPr sz="17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这些位置更直接服务于定位、排序和抑制误检。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52A103-A10C-4EEF-8EF4-22A3FA66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3B3BA3-BF76-40C7-828D-7B5488C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0B75E6-FDFD-4C00-B3F0-79150410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947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FEF858-3B25-43A3-8726-75334ED6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844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CFFCD9-24E4-47B0-A0B8-09880D00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741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8FF1C4-FEE4-4327-93B4-863D843F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638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603D6A-6CCB-4A9A-AABA-0FFEF2A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535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F80CFA-B869-45E0-8AC0-C55FFEF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432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FB9811-9FF5-4C07-98FD-E5A2BCCC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329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B91D5C-07B6-433B-9FF7-ECD5D71A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226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620EFE-7DF3-4EB8-A328-42D7F3E1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24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C6D34E-1F0D-40D9-9BB1-E7EE5B9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021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D84EB0-2EE4-49FA-A6CB-08E446DA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918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DA46E0-251A-421D-80A3-62BB07FC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815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B6545D-E227-4F49-B5A7-7F9E4283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712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5F5978-1522-4DCC-BBAE-CA4A328D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609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5FE2BD-D2BD-4835-9CD7-5CCC805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506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B9F255-58FB-4855-BA97-4A13CBB5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403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182DE7-DFDE-4D45-B544-094051C3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72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DEA8D1-1BD6-4E05-AD35-1F867379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538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88D414-A984-4192-8160-28914DD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5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44B8B8-522A-42D1-A400-4E9CCDB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921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5C1387-9AB9-453A-9704-2B8262A0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509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C6A565-7ADA-4C1F-88F5-A3846839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4406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10FBAC-569D-4160-A0BD-08D439FF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47D3B4-9B6C-4F3E-87FB-95B5000B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813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 选择器</a:t>
            </a:r>
          </a:p>
        </p:txBody>
      </p:sp>
      <p:cxnSp>
        <p:nvCxnSpPr>
          <p:cNvPr id="154" name=""/>
          <p:cNvCxnSpPr>
            <a:stCxn xmlns:a="http://schemas.openxmlformats.org/drawingml/2006/main" id="73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 flipH="1">
            <a:off x="5219700" y="338137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FFFFF"/>
            </a:solidFill>
            <a:prstDash val="solid"/>
            <a:tailEnd type="arrow" w="med" len="me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CF7CBB5-47C5-4A86-AC4B-6DC5FD4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7843C7-AE53-46B1-A25A-1A2E97C7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53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rPr>
              <a:t>支撑点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0537BD-BF3B-4072-BEFE-04352C0E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3A3A"/>
                </a:solidFill>
                <a:latin typeface="Microsoft YaHei"/>
                <a:ea typeface="Microsoft YaHei"/>
                <a:cs typeface="Microsoft YaHei"/>
              </a:rPr>
              <a:t>困难背景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C5A9796-1653-4004-B2EB-C27C572F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387522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C3874-D135-4590-8A8B-D62E390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879A1-7151-4640-AE48-6DD25F03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F94AF-F091-4B1B-AD4A-86294CA4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67F73-A866-4862-B110-C7344C6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0ADD2-493B-48CE-8F76-B106A4F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BE30D-18D5-4924-B5EE-DD4E39F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724CB-B1CD-4B7F-B33E-6568CFC2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2B075-9325-4BF1-B656-33DEE1E0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C59BB-F71E-415B-B8EE-5DE372E2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AEC59-C7CA-42AE-93D9-A6E264C1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8B434-5718-4A49-AAC1-2627FE68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C8768-B4E0-4874-84AF-1CF228CF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607CA-8180-498B-A62E-72C8A30B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1BDED-7397-4786-9A5B-D3B415C5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1848A-07FE-4AEE-8159-8D533010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90F11-2122-4044-95BA-87734A0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30514-D3F8-41EB-A126-064B539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整体流程：先选时间点，再做动作检测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CDB87-C076-4B69-B14C-22B695F3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3C9D4-0BCA-491C-A7AB-6ED385C0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F"/>
          </a:solidFill>
          <a:ln xmlns:a="http://schemas.openxmlformats.org/drawingml/2006/main" w="9525">
            <a:solidFill>
              <a:srgbClr val="9AD9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26109-C84C-4623-9E2C-066D89D2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低成本线索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C5A34-EAE4-45B6-A2B8-9C4CAE3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零样本动作先验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运动变化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特征能量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AB178-52E4-4090-B273-8C70F72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764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3F670-A228-445E-A119-96691371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 选择器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B1CE2-648D-4505-B6E1-6F7D4E5B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给每个时间点打分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硬选择关键位置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55D3F-7060-41FC-BD67-B9F8156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0E8DC-7B8B-4E91-88F4-286819C4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稀疏时间表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0AF505-DD6B-4105-9858-4FD4F525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记录原始时间坐标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保护边界换算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6CF3C-9A95-4E19-BE20-D91A6A71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4D8CC-8B51-4E9A-A2C8-0221FD0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28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动作检测器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15FAE6-D536-4A5E-8F2D-2493289D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只处理被选位置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输出动作片段</a:t>
            </a:r>
          </a:p>
        </p:txBody>
      </p:sp>
      <p:cxnSp>
        <p:nvCxnSpPr>
          <p:cNvPr id="74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762250" y="2790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8A64"/>
            </a:solidFill>
            <a:prstDash val="soli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467350" y="2790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06422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172450" y="2790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5EFF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C78305-C43B-4B66-960D-16BB7D9C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5F2529-1016-4466-A953-668EBC9E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F2D18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80CD9C-94A3-4C4F-9A57-6C692E3C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14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训练时校准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593B3-5BCA-4AFB-9A19-167354D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用密集检测反馈教选择器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ECDA49-DE07-40B7-9611-8A312B04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625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C5E43E-A8DA-45DD-BFA0-8B1D0B00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14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运行后记录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91BE3E-440C-49B1-931B-4D176298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3875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保存选择结果用于复现和排查</a:t>
            </a:r>
          </a:p>
        </p:txBody>
      </p:sp>
      <p:cxnSp>
        <p:nvCxnSpPr>
          <p:cNvPr id="84" name=""/>
          <p:cNvCxnSpPr>
            <a:stCxn xmlns:a="http://schemas.openxmlformats.org/drawingml/2006/main" id="35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3810000" y="3505200"/>
            <a:ext cx="60960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8C14A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25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7124700" y="3505200"/>
            <a:ext cx="47625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7386"/>
            </a:solidFill>
            <a:prstDash val="solid"/>
            <a:tailEnd type="arrow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4A7CFD-5E96-4584-9135-D2D84E2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343284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0B11E-9D0E-40B4-A145-B69A82A7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F247E-3A54-4FDA-858E-5F16CA90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380E2-FBB1-4625-A2BA-054343AE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2FE37-E5A8-407C-99B4-20C81926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F9CF2-01FA-4206-A45A-81F09F4F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55A63-4882-4C58-9435-02C74FF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A0514-395D-46F4-90BF-12CA384A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5483E-80D3-40C8-8BDF-7C86EFD2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02E2C-7F08-435C-827D-EDF2BDA2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C2E29-BF63-4260-A0C9-F1A17398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85451-583D-4D9C-A3DC-78A79446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B8D71-C8FC-48C8-B540-3508A98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5DE34-2290-453D-A5C3-5FAE96F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38E75-7046-4570-9BA1-9E22A14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113D9-C105-41CA-9B65-F62D36D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3B396-FE4F-47C0-9865-5E848B84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C1928-4391-4AC8-B960-802D83D9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部署时只使用现场可获得的线索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58045-9CD4-4782-8DEB-1A40EA30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9E8B6-97BF-4796-8BE1-3A3FBB37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3105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F"/>
          </a:solidFill>
          <a:ln xmlns:a="http://schemas.openxmlformats.org/drawingml/2006/main" w="9525">
            <a:solidFill>
              <a:srgbClr val="9AD9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E926C-8F1C-465B-83D4-20712C24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零样本动作先验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9B590-D5B6-4DDD-A10D-FC297776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7241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用通用动作/背景提示词得到粗略分数。</a:t>
            </a:r>
          </a:p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它帮助系统感知哪里可能有动作。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EDDCCB-0973-4715-8F4A-8E705392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3105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EFD3C-46CD-4C74-9535-3EA5464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478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运动和特征变化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6DDFF-75FC-4ED0-ABB9-6AE1ACB1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7241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动作开始或结束附近，画面和特征往往会突然变化。</a:t>
            </a:r>
          </a:p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这些变化能提示边界位置。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A3B55-3A93-438F-B4D2-CEB33286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105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0F301-DEDA-4DE1-9803-69866491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轻量预测分支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AA37FA-6106-48C9-BCFC-2A703304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7241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可选使用小模型</a:t>
            </a:r>
          </a:p>
          <a:p xmlns:a="http://schemas.openxmlformats.org/drawingml/2006/main">
            <a:pPr algn="l">
              <a:def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给出辅助判断</a:t>
            </a:r>
          </a:p>
          <a:p xmlns:a="http://schemas.openxmlformats.org/drawingml/2006/main">
            <a:pPr algn="l">
              <a:def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用于对照实验和消融分析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26F00C-0B49-4261-AC84-D7FA3508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43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31E18-ED77-45A3-B8DF-1A7537D4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8162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推理阶段的选择来自这些可见线索；训练阶段的教师信号只负责教会选择器。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22CB9D-28ED-4122-8D89-15FA6E33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622713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D82F6-C011-4BC2-A9C5-34743BC4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55F1A-B852-41A3-8876-2950CEBC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C9601-F9DF-4116-B0BC-C78C59CD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C6CCE-3ED5-446B-92B5-6CE77CD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9C25D-0006-4F50-AD70-2A594FE0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0C052-71DA-473F-983E-683028D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A3804-DE02-4DFD-AE9A-870BC371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8CDC1-10A1-420F-84A0-BE90DEBA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2B015-09DB-4ED4-9D00-8D3FACFC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42639-E624-44BA-A6DB-1053131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802E2-6A17-4D11-B418-B3FFAFC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35D4C-E17C-4191-AD67-7179CDF9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A838C-D003-42F3-8ACB-715D7700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A8A23-8DD6-4066-BEE1-D553C7BB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AC140-B28B-4F1B-9E2D-BB040AA7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351F4-0A4B-4C18-8ED2-3C24E04D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0A1C0-B949-4D5C-95AE-9FCE6733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训练时让选择器理解检测器真正需要什么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A493B-DEE0-4E38-8102-BEA7D656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A2BBC-E58C-47FF-9BFE-C38A5054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F2D18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411DD-411E-4F87-AD1A-CD7B8759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第一步：先学判断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F4256-D8C1-4DA3-84FE-9C6AEE71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476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用密集检测器反馈生成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有用程度标签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重点学习边界、支撑区域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和容易误报的位置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584FF-055E-40C7-B310-F6CE0B10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F6656-ADBE-41BB-9BDA-5859D27B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第二步：稀疏前向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0AAE4-7DB2-411F-B80C-F4321352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476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训练时仍然只把被选时间点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交给检测器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选择器继续通过覆盖、空洞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和边界损失调整自己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58A4E-8720-487D-A5ED-F0CBBB9A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F"/>
          </a:solidFill>
          <a:ln xmlns:a="http://schemas.openxmlformats.org/drawingml/2006/main" w="9525">
            <a:solidFill>
              <a:srgbClr val="9AD9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DCEC4-15C9-4A14-862A-0920DCF7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62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第三步：上线使用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BDEC1C-6A9D-4FB9-9778-2FAD8112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476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上线时保留低成本线索、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选择器和检测器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输出片段回到原始视频时间</a:t>
            </a:r>
          </a:p>
        </p:txBody>
      </p:sp>
      <p:cxnSp>
        <p:nvCxnSpPr>
          <p:cNvPr id="6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714750" y="3000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06422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524750" y="3000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8A64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F139A-3865-4948-9FCA-3327684C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36787-7B38-4DA7-B14B-D93D4665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86425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训练负责校准，推理负责轻量选择，二者的信息边界清晰。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46195D-A86A-48D8-9489-D5389CB9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831257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D7E56-0863-4C5B-A419-0A964B55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003CD-9D79-4DDC-BD65-F390EB3E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BA6D1-76C6-4A83-A004-5A9294AA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58C55-120F-4DE9-82BF-FD3AE3E1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6C802-2A40-4334-B441-2EB4BE9A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3AF36-E7A4-48A4-8D4F-635E8A4A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7FD3C-001D-4EC8-B9FA-0DC77EFA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CB5D2-35B6-4B3B-9807-699E1456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8954C-3BD2-4DF7-A269-E1A75256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EC9D0-471D-40C0-B400-94B4703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29E43-C524-497C-A2B9-C201EBBF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3D1CA-F41B-4512-8271-3916D9FE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DDBC4-0B8D-4320-A80A-A1E2B116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78868-664F-4879-8775-73A38452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58DE9-7774-493E-A508-DC587639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6AE31-9024-4DE7-A945-5ABEF42B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2B34F-77D0-4C89-BB95-F41E56E5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被选中的顺序，要换回视频原始时间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5BA18-A38C-42E8-A0B7-78725E4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55917-C3E1-4CDC-A7BA-222FBDB5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原始视频时间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0AFF0-EA70-4B6F-8D72-67F0F914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88931-FFC6-4C21-AF8C-C16F664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A66AD-3E79-4D38-9366-6A7E1E24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48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24FD3-690C-4D37-906B-FE03947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596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2FA81-EC1A-49E8-A42D-69BCD611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443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06D91-CB9F-4923-8A80-CD1BF60E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291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0CB62D-3E1E-4EDC-8184-607C7306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139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5E5D7-A6D0-431F-BE05-4E7FEA3E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987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A4B307-9AE9-411C-A5D9-665C4521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835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A9E46-DA94-4464-855F-A602F97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683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EEC55C-E475-409A-B2BC-6FCE2BB3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53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1E0F8-8B09-4165-A1B7-F5876A54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378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131A81-A7A8-4868-A99E-6C797A11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226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546A5A-7C26-4D70-B06D-76EE09F7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074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F5D8A8-B731-4919-9671-26170947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922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8A59F-E2C6-4667-9B3C-9C2C3C86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7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D65090-E0FE-492A-A1B7-8C19ECA4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617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675483-F9C2-41EE-AD60-974652B9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65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6D0594-8496-4B87-802C-BECB5296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313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CE6B8E-D74D-4E27-AEBA-EED3242B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161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9EBFB3-EB44-4CDE-A0BD-B1E11551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009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C0DB26-4508-418B-9741-E7F6B3B9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1857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20FCCE-1BAB-4E17-A9FB-007F1146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704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1E8553-49CF-45D0-BEF8-FB3E9E08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552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9FA79F-3A45-4E06-B8B7-A741FEDA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D12A32-D7D5-4026-BCC4-B71C732D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496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ED07CB-7AC5-4077-B2C3-B05A4AFF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887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D85984-D604-4543-B9C8-D6737EB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278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333D8A-7D07-429C-A297-93DA5CC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17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2829F5-BF54-43AC-900C-766D63BB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061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E32F2F-26FE-4F26-A7CD-D42E254F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604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42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D9707E-C81D-42C0-9D28-F29F1F73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选择后送入检测器的顺序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B91916-BDEA-4D14-9DE5-E4EBC193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EBC18D-88A9-41B2-8649-7F00BB87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895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435C46-5981-442C-8857-6D09603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29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rPr>
              <a:t>第 1 个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D85BEA-7628-42BE-B3D0-0FD20E6B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895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32920F-4632-4BE5-9427-BF624C1A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29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rPr>
              <a:t>第 2 个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DD5360-79E7-4222-BBC7-4694F1AF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95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E029C3-B0AE-4236-B35E-C205CB9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rPr>
              <a:t>第 3 个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C25C15-9BD3-4A65-A3FE-99D48A63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95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EC22E7-316D-453F-A3FD-A9D26502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rPr>
              <a:t>第 4 个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6F80ED-A603-453F-BC20-243C2243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895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9AD525-54EA-41B9-BE91-4A8323A9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29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rPr>
              <a:t>第 5 个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84054B5-9324-4042-A5B4-4FDB1C72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95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A1956C-C44D-4761-B257-ADD2B766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29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EFF"/>
                </a:solidFill>
                <a:latin typeface="Microsoft YaHei"/>
                <a:ea typeface="Microsoft YaHei"/>
                <a:cs typeface="Microsoft YaHei"/>
              </a:rPr>
              <a:t>第 6 个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020C5B-9CA3-4B2A-A44E-4AFCA615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DB2D9A-432D-4484-97A3-9758A92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记录原始位置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FB1082-A395-4528-91D6-B9E8DE85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864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每个被选时间点保留原始坐标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521F41-5073-4650-81CD-0B8744C8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1CAE42-ACEF-4483-84A3-D50DF5E8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62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按原时间解码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4FBC2E-06E4-44B9-8156-CB051406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4864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检测框回到原始视频时间评估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5C521A-6E15-4231-9C82-AFE2F1BD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74C5CD-124A-4A8C-8FCD-8AA59DF7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保护高精度定位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4BB4D6-3A90-46A5-BC56-5A5FE0AF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864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边界评估依赖这个坐标换算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0556657-866E-46C8-BF00-4E31E96A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2069558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F9BAA-15F7-4192-B432-D2702782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4BDFD-4766-4FF5-A8BF-6A668773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64AC9-D75B-4960-B87D-EDF8F6B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DE3AC-83EE-4695-8F17-25E915F3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A0625-2298-4DC2-9297-F5406799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797F-C81F-418F-B65B-62E13971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33B0A-D1E8-4AC5-991B-3FBA4386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CB684-BC80-4AC1-9DE4-EE414C1F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E4D5C-1648-413D-85E9-936B1A54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7284D-3273-402C-A52C-C483BF90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0DC8D-43DF-49A9-A135-18DE1B70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FE498-CBB8-4937-A727-A27C70C5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9F1DD-C2F4-4029-BB23-8605963A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C8E7E-753C-4E0D-A859-6921C4A3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D59CF-337B-4F6B-AE9B-58FD2F4D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493AB-786F-4F1D-B881-17615186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07F88-CDB1-4E8C-AFBA-16F6CE61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实验分三层，逐步回答“有没有用”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F5890-6712-46E4-8572-CBE83263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9D58D-CBAB-4D2B-BB12-C5F79BF1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F"/>
          </a:solidFill>
          <a:ln xmlns:a="http://schemas.openxmlformats.org/drawingml/2006/main" w="9525">
            <a:solidFill>
              <a:srgbClr val="9AD9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D9642-B684-41F3-B083-197D0A8A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47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先看动作先验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6C2B4-346A-4A63-96C9-73EBA9CE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它能否粗略区分动作和背景？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指标：排序、召回、精确率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DE1BB-22EA-410F-8FD1-95BB8E00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F19B7-B4FC-4072-82DF-4C7B5CDD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再看选择位置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E8113-D4A9-4613-8A67-BF01EB5A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19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被选时间点是否碰到动作、边界和短动作？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指标：边界覆盖、空洞、冗余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BBFC2-680A-482C-BEC4-29B379F2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5DD72-0DC2-4A7C-A548-E92E0F2C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最后看检测结果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5B3EEA-82CA-45BF-9558-A5ED7AF0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检测器只看被选时间点后，定位精度是否保住？</a:t>
            </a:r>
          </a:p>
          <a:p xmlns:a="http://schemas.openxmlformats.org/drawingml/2006/main">
            <a:pPr algn="l">
              <a:def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指标：平均精度和高重合度精度</a:t>
            </a:r>
          </a:p>
        </p:txBody>
      </p:sp>
      <p:cxnSp>
        <p:nvCxnSpPr>
          <p:cNvPr id="6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076700" y="2409825"/>
            <a:ext cx="5524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06422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581900" y="3362325"/>
            <a:ext cx="5524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5EFF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B13D2C-620F-466F-9253-2F0D3BAD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996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B1A94-D3F1-4154-AB18-D39B15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95950"/>
            <a:ext cx="950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粗略动作分数只是第一步，最终成功由稀疏检测结果决定。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DD004C-49F7-4CB9-AAA8-BF0549AE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673112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97B67D-E49D-45D3-AA1B-F9F3628B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25F91-AE2D-45EB-B878-A536EA7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BE537-69D8-4D14-9994-B8B56E6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A543E-5DA3-4CC3-9D46-61996BBE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46B11-CCD1-43AB-9C9D-D7BE6A0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F9FD4-12D8-4D24-9FC5-57E3B0B6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2DE0B-B8E1-4E35-823B-AAA4E431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BC201-B824-4D2A-83F2-835CA26A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0EA46-4881-4F23-B32C-D7B2A4C1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AEB86-32C8-483E-A4FD-65B82433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B7938-DEAB-4863-AC13-23A03259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EC923-57C4-4D23-8A51-89B1C463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0B8EB-4A48-47EF-9800-6709810F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9E25D-D5A2-4FB5-80D2-E70AD45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A095A-4B46-4122-8FE4-00A37A09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60804-75BA-4768-867A-E4A4F237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51664-2F2A-4083-89D6-BD723807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比较对象都按同一预算对齐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B05EE-AEC3-4B18-BCA7-0CE7EF0B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D686B-8E5E-4614-8ADE-8A689CF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990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A9F31-2309-4683-970E-39E1299D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等间隔选取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EEDE9-A651-4E64-A05D-2B0AC7B4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最多选择 384 个时间点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7458C-7290-4A10-AE06-16B3941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52600"/>
            <a:ext cx="2990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40BBD-1A2A-46C5-829A-11B112C0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随机选取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4664B-0D26-4BF0-91DF-16E4A861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最多选择 384 个时间点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DEA27-8996-44ED-A801-3F4AA9C6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2990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E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2A8B8-B130-4CF0-9877-8B3F809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运动强度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BB4F3-9D57-4F43-A709-4E9F54A0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最多选择 384 个时间点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DE7B53-77D3-4B39-8F2D-65374A7E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990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440AC-9D91-4F0A-BB8B-2853C1B6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零样本动作先验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46871-D52D-42F1-A687-4F8C99E0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最多选择 384 个时间点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042FF-B4CF-4409-899A-903C409D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2990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19050">
            <a:solidFill>
              <a:srgbClr val="F0B2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4046BC-7458-49F0-B3C3-A066171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 选择器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059D90-8C80-4C7C-97C1-F23C39A3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71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最多选择 384 个时间点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B36313-0835-491C-BD68-DF597415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2990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318E53-58D4-4B23-934E-159C3ED4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诊断上界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1CF1C-37AB-4509-8094-AB88376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71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只用于分析上限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8260E1-F4C5-490D-804C-89BDD620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043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C6335F-C102-44D5-B1C0-FDD72D20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7687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所有主要比较都限制在同一个选择数量内，避免把预算差异当成方法优势。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A03115-B830-46C0-BA2D-640A1E2B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702428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01018-7B14-4D9C-8EEF-33786AA5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82ECD-6801-420E-A5D0-3F1754FA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90473-8335-4965-A0D2-EFD39E83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76785-53D5-47E3-85B3-808DBEC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16C45-EE51-4BFB-91AB-488B7149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7793C-025D-42D5-83DB-AE7E4A22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81BC1-4DF5-4997-BDAF-81BAB82A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A97C9-8062-4A34-AB66-8F0A6D6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F191E-F78E-4DFA-9690-3A04E31A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DE995-CB80-49B8-8752-0B091802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2FB16-F6EC-4BE4-B82B-FBA7CE48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03B13-F69D-4A59-ABA1-581B8B5B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9A4BB-35FE-45C5-AF67-8A93162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30345-E45E-47CC-8F3B-9205348B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B509D-EFB3-4517-A286-E44AF28B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2C9B4-672A-4084-9EC0-57CA4CA6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4889E-44F7-43FB-A64F-967C5820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公开报告中可以这样读结果表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4BEF0-690E-4A0D-92F1-7C9A2DEF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D1A87-0214-4856-8171-0EF2D04F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62B1C-5286-4AFE-AD7D-5CCEF927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47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看平均表现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33A5C-1D52-4214-906F-D43F209B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762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平均精度说明整体检测能力。</a:t>
            </a:r>
          </a:p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如果 DUCA 接近密集检测器，说明少看时间点仍能保住主要信息。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0E232-96FE-432B-AFB8-C012CE0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9D088-B60D-493F-AC07-E56CA766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47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看高精度定位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D5AA3-1F0F-419C-8D72-B237A6A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62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高重合度精度更关注边界。</a:t>
            </a:r>
          </a:p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这里能验证原始时间坐标和边界保护是否有效。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BCB6E-D326-4A9B-BAE1-C22AF23F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F"/>
          </a:solidFill>
          <a:ln xmlns:a="http://schemas.openxmlformats.org/drawingml/2006/main" w="9525">
            <a:solidFill>
              <a:srgbClr val="9AD9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BF89DC-34E3-4CD2-B18F-85A51E8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看计算节省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D3813-538F-45D2-A22D-573F3CFF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62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报告选择数量、检测器计算量和延迟。</a:t>
            </a:r>
          </a:p>
          <a:p xmlns:a="http://schemas.openxmlformats.org/drawingml/2006/main">
            <a:pPr algn="l">
              <a:def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这样能说明效率收益来自哪里。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8BF6C-4A1C-4474-8C1E-6CBB19E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A80032-F114-44E0-9F6A-6B405CCF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86425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当前版本保留真实结果填充位置；数值只来自完整实验运行。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B2A42C-4E42-4822-A95B-D202D407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606939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C57FF-5017-46CD-90CF-29A4E242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D4B1B-62F3-4F7E-92C9-8ADFA001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0062D-BF65-4BAC-9256-F419512C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54B1F-0AD2-49A6-9313-0E264ADD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5A775-A33F-4CE1-8F1C-3A471483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7A9EA-5F06-4C51-BE63-4FFB597E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85795-2B58-4367-91F7-A86AF5A4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F5569-52CA-4642-B51A-370A2B2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30908-4544-4419-BBD1-1C2AA5CD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3CFB1-24D3-49EC-8381-4B001D07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75FFC-2060-43CB-A500-47EB4FCD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0A219-62DC-433F-91FB-13F1F701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7AC37-C02A-44A2-B9A2-74BE7F23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6A827-1538-4BAA-AAC7-E1B49B55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D1C1A-652C-48F1-AAA9-B52E31C5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FA771-5DFC-4C35-8244-CA9B5010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06422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6D563-9BD5-4C08-83CB-3956776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DUCA-TAD 是一个在线时序采集插件：它在检测器前选择少量关键时间点，并用原始时间坐标保护动作边界。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6911A-BF65-402C-9A91-9DB1C46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0B2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E9260-6405-4350-AC31-D32AB18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方法价值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C80AB-B645-4897-941E-C9E37F7B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让检测器处理更少输入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82E50-034C-4F0F-AEB6-0F9B7F4A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9DBA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B59D3-AC2B-407E-AA84-E81165CF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定位价值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5A94D-57E2-4D46-B891-A961D9C2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67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把输出片段映射回原始时间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7763C-24D1-4A28-B651-F3BC5615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F"/>
          </a:solidFill>
          <a:ln xmlns:a="http://schemas.openxmlformats.org/drawingml/2006/main" w="9525">
            <a:solidFill>
              <a:srgbClr val="9AD9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AB6F5-09FD-44DD-BDE1-505FD610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实验价值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C776A4-80BE-4E6A-97DC-5A8A03F9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67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41"/>
                </a:solidFill>
                <a:latin typeface="Microsoft YaHei"/>
                <a:ea typeface="Microsoft YaHei"/>
                <a:cs typeface="Microsoft YaHei"/>
              </a:rPr>
              <a:t>用三层评估避免过度解读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DDAF7-47D5-4659-B79B-D4402604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1013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96B7B-5376-41B1-8262-BD44E7C4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86425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下一步：补齐零样本先验、选择几何和稀疏检测的真实实验结果。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8EF21-8827-45BE-BFC9-213C07C9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69887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2026-07-08T15:31:49.9680000Z</dcterms:created>
  <dcterms:modified xsi:type="dcterms:W3CDTF">2026-07-08T15:31:49.9680000Z</dcterms:modified>
</coreProperties>
</file>